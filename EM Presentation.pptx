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8" r:id="rId7"/>
    <p:sldId id="262" r:id="rId8"/>
    <p:sldId id="263" r:id="rId9"/>
    <p:sldId id="269" r:id="rId10"/>
    <p:sldId id="264" r:id="rId11"/>
    <p:sldId id="265" r:id="rId12"/>
    <p:sldId id="266" r:id="rId13"/>
    <p:sldId id="267" r:id="rId14"/>
    <p:sldId id="272" r:id="rId15"/>
    <p:sldId id="271" r:id="rId1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523743-7403-4A58-9EEF-719A0C52F78F}" v="62" dt="2024-12-12T02:30:11.8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94" autoAdjust="0"/>
  </p:normalViewPr>
  <p:slideViewPr>
    <p:cSldViewPr snapToGrid="0" snapToObjects="1">
      <p:cViewPr varScale="1">
        <p:scale>
          <a:sx n="115" d="100"/>
          <a:sy n="115" d="100"/>
        </p:scale>
        <p:origin x="442" y="77"/>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24A07B-5A9E-4B08-8B30-E7DD16D1ED8F}" type="datetimeFigureOut">
              <a:rPr lang="en-US" smtClean="0"/>
              <a:t>12/11/2024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6C085-0A5B-4A26-9C42-EE48E213D042}" type="slidenum">
              <a:rPr lang="en-US" smtClean="0"/>
              <a:t>‹#›</a:t>
            </a:fld>
            <a:endParaRPr lang="en-US"/>
          </a:p>
        </p:txBody>
      </p:sp>
    </p:spTree>
    <p:extLst>
      <p:ext uri="{BB962C8B-B14F-4D97-AF65-F5344CB8AC3E}">
        <p14:creationId xmlns:p14="http://schemas.microsoft.com/office/powerpoint/2010/main" val="2655734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56C085-0A5B-4A26-9C42-EE48E213D042}" type="slidenum">
              <a:rPr lang="en-US" smtClean="0"/>
              <a:t>15</a:t>
            </a:fld>
            <a:endParaRPr lang="en-US"/>
          </a:p>
        </p:txBody>
      </p:sp>
    </p:spTree>
    <p:extLst>
      <p:ext uri="{BB962C8B-B14F-4D97-AF65-F5344CB8AC3E}">
        <p14:creationId xmlns:p14="http://schemas.microsoft.com/office/powerpoint/2010/main" val="2990318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12/11/2024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63154" y="1063154"/>
            <a:ext cx="5156864"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8871" y="1995355"/>
            <a:ext cx="3266696"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885662" y="1228564"/>
            <a:ext cx="5143179"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560516" y="900984"/>
            <a:ext cx="3606227"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495030" y="2075329"/>
            <a:ext cx="2160621" cy="2303930"/>
          </a:xfrm>
        </p:spPr>
        <p:txBody>
          <a:bodyPr anchor="t">
            <a:normAutofit/>
          </a:bodyPr>
          <a:lstStyle/>
          <a:p>
            <a:pPr marL="0" lvl="0" indent="0" algn="l">
              <a:buNone/>
            </a:pPr>
            <a:r>
              <a:rPr lang="en-US" sz="2800" dirty="0">
                <a:solidFill>
                  <a:srgbClr val="FFFFFF"/>
                </a:solidFill>
              </a:rPr>
              <a:t>Project: Expectation Maximization Algorithm</a:t>
            </a:r>
          </a:p>
        </p:txBody>
      </p:sp>
      <p:sp>
        <p:nvSpPr>
          <p:cNvPr id="3" name="Subtitle 2"/>
          <p:cNvSpPr>
            <a:spLocks noGrp="1"/>
          </p:cNvSpPr>
          <p:nvPr>
            <p:ph type="subTitle" idx="1"/>
          </p:nvPr>
        </p:nvSpPr>
        <p:spPr>
          <a:xfrm>
            <a:off x="495031" y="605118"/>
            <a:ext cx="2189804" cy="1120587"/>
          </a:xfrm>
        </p:spPr>
        <p:txBody>
          <a:bodyPr anchor="b">
            <a:normAutofit/>
          </a:bodyPr>
          <a:lstStyle/>
          <a:p>
            <a:pPr marL="0" lvl="0" indent="0" algn="l">
              <a:buNone/>
            </a:pPr>
            <a:br>
              <a:rPr lang="en-US" sz="1500">
                <a:solidFill>
                  <a:srgbClr val="FFFFFF"/>
                </a:solidFill>
              </a:rPr>
            </a:br>
            <a:br>
              <a:rPr lang="en-US" sz="1500">
                <a:solidFill>
                  <a:srgbClr val="FFFFFF"/>
                </a:solidFill>
              </a:rPr>
            </a:br>
            <a:r>
              <a:rPr lang="en-US" sz="1500">
                <a:solidFill>
                  <a:srgbClr val="FFFFFF"/>
                </a:solidFill>
              </a:rPr>
              <a:t>Victor Apatu</a:t>
            </a:r>
          </a:p>
        </p:txBody>
      </p:sp>
      <p:pic>
        <p:nvPicPr>
          <p:cNvPr id="5" name="Picture 2" descr="Expectation-Maximization algorithm ...">
            <a:extLst>
              <a:ext uri="{FF2B5EF4-FFF2-40B4-BE49-F238E27FC236}">
                <a16:creationId xmlns:a16="http://schemas.microsoft.com/office/drawing/2014/main" id="{53E9E246-0144-D82A-AB35-204C261640B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1227"/>
          <a:stretch/>
        </p:blipFill>
        <p:spPr bwMode="auto">
          <a:xfrm>
            <a:off x="3450781" y="641486"/>
            <a:ext cx="3345873" cy="2256757"/>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a:xfrm>
            <a:off x="6727698" y="4841748"/>
            <a:ext cx="2057400" cy="273843"/>
          </a:xfrm>
        </p:spPr>
        <p:txBody>
          <a:bodyPr>
            <a:normAutofit/>
          </a:bodyPr>
          <a:lstStyle/>
          <a:p>
            <a:pPr marL="0" lvl="0" indent="0" algn="r">
              <a:spcAft>
                <a:spcPts val="600"/>
              </a:spcAft>
              <a:buNone/>
            </a:pPr>
            <a:r>
              <a:rPr lang="en-US" sz="800">
                <a:solidFill>
                  <a:schemeClr val="tx1">
                    <a:lumMod val="50000"/>
                    <a:lumOff val="50000"/>
                  </a:schemeClr>
                </a:solidFill>
              </a:rPr>
              <a:t>2024-12-11</a:t>
            </a:r>
          </a:p>
        </p:txBody>
      </p:sp>
      <p:sp>
        <p:nvSpPr>
          <p:cNvPr id="6" name="TextBox 5">
            <a:extLst>
              <a:ext uri="{FF2B5EF4-FFF2-40B4-BE49-F238E27FC236}">
                <a16:creationId xmlns:a16="http://schemas.microsoft.com/office/drawing/2014/main" id="{04BF75A0-A282-0E99-49A1-C6E501689B83}"/>
              </a:ext>
            </a:extLst>
          </p:cNvPr>
          <p:cNvSpPr txBox="1"/>
          <p:nvPr/>
        </p:nvSpPr>
        <p:spPr>
          <a:xfrm>
            <a:off x="3706090" y="101002"/>
            <a:ext cx="4218709" cy="646331"/>
          </a:xfrm>
          <a:prstGeom prst="rect">
            <a:avLst/>
          </a:prstGeom>
          <a:noFill/>
        </p:spPr>
        <p:txBody>
          <a:bodyPr wrap="square" rtlCol="0">
            <a:spAutoFit/>
          </a:bodyPr>
          <a:lstStyle/>
          <a:p>
            <a:pPr algn="ctr"/>
            <a:r>
              <a:rPr lang="en-US" b="1" dirty="0"/>
              <a:t>Computational Statistics</a:t>
            </a:r>
          </a:p>
          <a:p>
            <a:pPr algn="ctr"/>
            <a:r>
              <a:rPr lang="en-US" b="1" dirty="0"/>
              <a:t>MA 5761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6953" y="1209902"/>
            <a:ext cx="8229600" cy="1531001"/>
          </a:xfrm>
        </p:spPr>
        <p:txBody>
          <a:bodyPr>
            <a:normAutofit/>
          </a:bodyPr>
          <a:lstStyle/>
          <a:p>
            <a:pPr marL="0" lvl="0" indent="0">
              <a:buNone/>
            </a:pPr>
            <a:r>
              <a:rPr sz="1600" dirty="0"/>
              <a:t>The Expectation-Maximization (E-M) Algorithm is an iterative method for finding the maximum likelihood estimates (MLE) of parameters in statistical models where the data is incomplete, has missing values, or involves latent variables. the EM model simply operates on </a:t>
            </a:r>
            <a:r>
              <a:rPr lang="en-US" sz="1600" dirty="0"/>
              <a:t>B</a:t>
            </a:r>
            <a:r>
              <a:rPr sz="1600" dirty="0"/>
              <a:t>ayesian assumption by finding a latent missing variable given what has been observed.</a:t>
            </a:r>
          </a:p>
        </p:txBody>
      </p:sp>
      <p:sp>
        <p:nvSpPr>
          <p:cNvPr id="2" name="Content Placeholder 2">
            <a:extLst>
              <a:ext uri="{FF2B5EF4-FFF2-40B4-BE49-F238E27FC236}">
                <a16:creationId xmlns:a16="http://schemas.microsoft.com/office/drawing/2014/main" id="{DE2D76CE-FF91-48E3-886C-B58E644B7756}"/>
              </a:ext>
            </a:extLst>
          </p:cNvPr>
          <p:cNvSpPr txBox="1">
            <a:spLocks/>
          </p:cNvSpPr>
          <p:nvPr/>
        </p:nvSpPr>
        <p:spPr>
          <a:xfrm>
            <a:off x="122884" y="736778"/>
            <a:ext cx="8229600" cy="380360"/>
          </a:xfrm>
          <a:prstGeom prst="rect">
            <a:avLst/>
          </a:prstGeom>
        </p:spPr>
        <p:txBody>
          <a:bodyPr vert="horz" lIns="91440" tIns="45720" rIns="91440" bIns="45720" rtlCol="0">
            <a:normAutofit/>
          </a:bodyPr>
          <a:lst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buFont typeface="Arial"/>
              <a:buNone/>
            </a:pPr>
            <a:r>
              <a:rPr lang="en-US" sz="1600" b="1" dirty="0"/>
              <a:t>The E-M Algorithm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837" y="120252"/>
            <a:ext cx="8229600" cy="857250"/>
          </a:xfrm>
        </p:spPr>
        <p:txBody>
          <a:bodyPr>
            <a:normAutofit/>
          </a:bodyPr>
          <a:lstStyle/>
          <a:p>
            <a:pPr marL="0" lvl="0" indent="0">
              <a:buNone/>
            </a:pPr>
            <a:r>
              <a:rPr sz="2400" dirty="0"/>
              <a:t>How Does it Work?</a:t>
            </a:r>
          </a:p>
        </p:txBody>
      </p:sp>
      <p:sp>
        <p:nvSpPr>
          <p:cNvPr id="3" name="Content Placeholder 2"/>
          <p:cNvSpPr>
            <a:spLocks noGrp="1"/>
          </p:cNvSpPr>
          <p:nvPr>
            <p:ph idx="1"/>
          </p:nvPr>
        </p:nvSpPr>
        <p:spPr>
          <a:xfrm>
            <a:off x="304800" y="874514"/>
            <a:ext cx="8229600" cy="3394472"/>
          </a:xfrm>
        </p:spPr>
        <p:txBody>
          <a:bodyPr>
            <a:normAutofit/>
          </a:bodyPr>
          <a:lstStyle/>
          <a:p>
            <a:pPr marL="0" lvl="0" indent="0">
              <a:spcBef>
                <a:spcPts val="3000"/>
              </a:spcBef>
              <a:buNone/>
            </a:pPr>
            <a:r>
              <a:rPr sz="1600" b="1" dirty="0"/>
              <a:t>Bayesian Assumption</a:t>
            </a:r>
          </a:p>
          <a:p>
            <a:pPr marL="0" lvl="0" indent="0">
              <a:buNone/>
            </a:pPr>
            <a:r>
              <a:rPr sz="1600" dirty="0"/>
              <a:t>The E</a:t>
            </a:r>
            <a:r>
              <a:rPr lang="en-US" sz="1600" dirty="0"/>
              <a:t>-</a:t>
            </a:r>
            <a:r>
              <a:rPr sz="1600" dirty="0"/>
              <a:t>M algorithm assumes a probabilistic framework, treating missing or latent variables as random variables drawn from a specific distribution, by estimating the posterior probability of the latent variables given the observed data.</a:t>
            </a:r>
          </a:p>
          <a:p>
            <a:pPr marL="0" lvl="0" indent="0">
              <a:buNone/>
            </a:pPr>
            <a:r>
              <a:rPr sz="1600" dirty="0"/>
              <a:t>The E-M model can be largely be classified in two (2) main steps:</a:t>
            </a:r>
            <a:endParaRPr lang="en-US" sz="1600" dirty="0"/>
          </a:p>
          <a:p>
            <a:pPr lvl="0">
              <a:buAutoNum type="arabicPeriod"/>
            </a:pPr>
            <a:r>
              <a:rPr lang="en-US" sz="1600" dirty="0"/>
              <a:t>Find Expectation </a:t>
            </a:r>
          </a:p>
          <a:p>
            <a:pPr lvl="0">
              <a:buAutoNum type="arabicPeriod"/>
            </a:pPr>
            <a:r>
              <a:rPr lang="en-US" sz="1600" dirty="0"/>
              <a:t>Maximize</a:t>
            </a:r>
            <a:endParaRPr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33" name="Rectangle 1032">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0"/>
            <a:ext cx="8375586" cy="1514104"/>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35" name="Rectangle 1034">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196" y="0"/>
            <a:ext cx="8366760" cy="150876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01149" y="312039"/>
            <a:ext cx="7626096" cy="884682"/>
          </a:xfrm>
        </p:spPr>
        <p:txBody>
          <a:bodyPr>
            <a:normAutofit/>
          </a:bodyPr>
          <a:lstStyle/>
          <a:p>
            <a:pPr>
              <a:spcBef>
                <a:spcPts val="3000"/>
              </a:spcBef>
            </a:pPr>
            <a:r>
              <a:rPr lang="en-US" sz="3000" b="1" dirty="0">
                <a:latin typeface="+mn-lt"/>
                <a:ea typeface="+mn-ea"/>
                <a:cs typeface="+mn-cs"/>
              </a:rPr>
              <a:t>The E-M Algorithm</a:t>
            </a:r>
          </a:p>
        </p:txBody>
      </p:sp>
      <p:sp>
        <p:nvSpPr>
          <p:cNvPr id="1037" name="Rectangle 1036">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578099"/>
            <a:ext cx="96012"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EM Algorithm in Machine Learning - Javatpoint">
            <a:extLst>
              <a:ext uri="{FF2B5EF4-FFF2-40B4-BE49-F238E27FC236}">
                <a16:creationId xmlns:a16="http://schemas.microsoft.com/office/drawing/2014/main" id="{C2839B94-6746-5533-3685-533621AA0D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4" b="586"/>
          <a:stretch/>
        </p:blipFill>
        <p:spPr bwMode="auto">
          <a:xfrm>
            <a:off x="681228" y="1858518"/>
            <a:ext cx="4507391" cy="277063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558589" y="1858518"/>
                <a:ext cx="2904183" cy="2770632"/>
              </a:xfrm>
            </p:spPr>
            <p:txBody>
              <a:bodyPr anchor="ctr">
                <a:normAutofit/>
              </a:bodyPr>
              <a:lstStyle/>
              <a:p>
                <a:pPr marL="342900" lvl="0" indent="-342900">
                  <a:lnSpc>
                    <a:spcPct val="90000"/>
                  </a:lnSpc>
                  <a:buAutoNum type="arabicPeriod"/>
                </a:pPr>
                <a:r>
                  <a:rPr lang="en-US" sz="1200"/>
                  <a:t>Calculate the expected value of the latent variables based on the current parameter estimates: Think of this as “filling in” the missing data using conditional probabilities.</a:t>
                </a:r>
              </a:p>
              <a:p>
                <a:pPr marL="342900" lvl="0" indent="-342900">
                  <a:lnSpc>
                    <a:spcPct val="90000"/>
                  </a:lnSpc>
                  <a:buAutoNum type="arabicPeriod"/>
                </a:pPr>
                <a14:m>
                  <m:oMath xmlns:m="http://schemas.openxmlformats.org/officeDocument/2006/math">
                    <m:r>
                      <a:rPr lang="en-US" sz="1200">
                        <a:latin typeface="Cambria Math" panose="02040503050406030204" pitchFamily="18" charset="0"/>
                      </a:rPr>
                      <m:t>𝑄</m:t>
                    </m:r>
                    <m:d>
                      <m:dPr>
                        <m:ctrlPr>
                          <a:rPr lang="ar-AE" sz="1200" i="1">
                            <a:latin typeface="Cambria Math" panose="02040503050406030204" pitchFamily="18" charset="0"/>
                          </a:rPr>
                        </m:ctrlPr>
                      </m:dPr>
                      <m:e>
                        <m:r>
                          <a:rPr lang="ar-AE" sz="1200">
                            <a:latin typeface="Cambria Math" panose="02040503050406030204" pitchFamily="18" charset="0"/>
                          </a:rPr>
                          <m:t>𝜃</m:t>
                        </m:r>
                        <m:r>
                          <a:rPr lang="ar-AE" sz="1200">
                            <a:latin typeface="Cambria Math" panose="02040503050406030204" pitchFamily="18" charset="0"/>
                          </a:rPr>
                          <m:t>|</m:t>
                        </m:r>
                        <m:sSup>
                          <m:sSupPr>
                            <m:ctrlPr>
                              <a:rPr lang="ar-AE" sz="1200" i="1">
                                <a:latin typeface="Cambria Math" panose="02040503050406030204" pitchFamily="18" charset="0"/>
                              </a:rPr>
                            </m:ctrlPr>
                          </m:sSupPr>
                          <m:e>
                            <m:r>
                              <a:rPr lang="ar-AE" sz="1200">
                                <a:latin typeface="Cambria Math" panose="02040503050406030204" pitchFamily="18" charset="0"/>
                              </a:rPr>
                              <m:t>𝜃</m:t>
                            </m:r>
                          </m:e>
                          <m:sup>
                            <m:d>
                              <m:dPr>
                                <m:ctrlPr>
                                  <a:rPr lang="ar-AE" sz="1200" i="1">
                                    <a:latin typeface="Cambria Math" panose="02040503050406030204" pitchFamily="18" charset="0"/>
                                  </a:rPr>
                                </m:ctrlPr>
                              </m:dPr>
                              <m:e>
                                <m:r>
                                  <a:rPr lang="ar-AE" sz="1200">
                                    <a:latin typeface="Cambria Math" panose="02040503050406030204" pitchFamily="18" charset="0"/>
                                  </a:rPr>
                                  <m:t>𝑡</m:t>
                                </m:r>
                              </m:e>
                            </m:d>
                          </m:sup>
                        </m:sSup>
                      </m:e>
                    </m:d>
                    <m:r>
                      <a:rPr lang="ar-AE" sz="1200">
                        <a:latin typeface="Cambria Math" panose="02040503050406030204" pitchFamily="18" charset="0"/>
                      </a:rPr>
                      <m:t>=</m:t>
                    </m:r>
                    <m:sSub>
                      <m:sSubPr>
                        <m:ctrlPr>
                          <a:rPr lang="ar-AE" sz="1200" i="1">
                            <a:latin typeface="Cambria Math" panose="02040503050406030204" pitchFamily="18" charset="0"/>
                          </a:rPr>
                        </m:ctrlPr>
                      </m:sSubPr>
                      <m:e>
                        <m:r>
                          <a:rPr lang="ar-AE" sz="1200">
                            <a:latin typeface="Cambria Math" panose="02040503050406030204" pitchFamily="18" charset="0"/>
                          </a:rPr>
                          <m:t>𝔼</m:t>
                        </m:r>
                      </m:e>
                      <m:sub>
                        <m:r>
                          <a:rPr lang="ar-AE" sz="1200">
                            <a:latin typeface="Cambria Math" panose="02040503050406030204" pitchFamily="18" charset="0"/>
                          </a:rPr>
                          <m:t>𝑍</m:t>
                        </m:r>
                        <m:r>
                          <a:rPr lang="ar-AE" sz="1200">
                            <a:latin typeface="Cambria Math" panose="02040503050406030204" pitchFamily="18" charset="0"/>
                          </a:rPr>
                          <m:t>|</m:t>
                        </m:r>
                        <m:r>
                          <a:rPr lang="ar-AE" sz="1200">
                            <a:latin typeface="Cambria Math" panose="02040503050406030204" pitchFamily="18" charset="0"/>
                          </a:rPr>
                          <m:t>𝑋</m:t>
                        </m:r>
                        <m:r>
                          <a:rPr lang="ar-AE" sz="1200">
                            <a:latin typeface="Cambria Math" panose="02040503050406030204" pitchFamily="18" charset="0"/>
                          </a:rPr>
                          <m:t>,</m:t>
                        </m:r>
                        <m:sSup>
                          <m:sSupPr>
                            <m:ctrlPr>
                              <a:rPr lang="ar-AE" sz="1200" i="1">
                                <a:latin typeface="Cambria Math" panose="02040503050406030204" pitchFamily="18" charset="0"/>
                              </a:rPr>
                            </m:ctrlPr>
                          </m:sSupPr>
                          <m:e>
                            <m:r>
                              <a:rPr lang="ar-AE" sz="1200">
                                <a:latin typeface="Cambria Math" panose="02040503050406030204" pitchFamily="18" charset="0"/>
                              </a:rPr>
                              <m:t>𝜃</m:t>
                            </m:r>
                          </m:e>
                          <m:sup>
                            <m:d>
                              <m:dPr>
                                <m:ctrlPr>
                                  <a:rPr lang="ar-AE" sz="1200" i="1">
                                    <a:latin typeface="Cambria Math" panose="02040503050406030204" pitchFamily="18" charset="0"/>
                                  </a:rPr>
                                </m:ctrlPr>
                              </m:dPr>
                              <m:e>
                                <m:r>
                                  <a:rPr lang="ar-AE" sz="1200">
                                    <a:latin typeface="Cambria Math" panose="02040503050406030204" pitchFamily="18" charset="0"/>
                                  </a:rPr>
                                  <m:t>𝑡</m:t>
                                </m:r>
                              </m:e>
                            </m:d>
                          </m:sup>
                        </m:sSup>
                      </m:sub>
                    </m:sSub>
                    <m:d>
                      <m:dPr>
                        <m:begChr m:val="["/>
                        <m:endChr m:val="]"/>
                        <m:ctrlPr>
                          <a:rPr lang="ar-AE" sz="1200" i="1">
                            <a:latin typeface="Cambria Math" panose="02040503050406030204" pitchFamily="18" charset="0"/>
                          </a:rPr>
                        </m:ctrlPr>
                      </m:dPr>
                      <m:e>
                        <m:r>
                          <m:rPr>
                            <m:sty m:val="p"/>
                          </m:rPr>
                          <a:rPr lang="en-US" sz="1200">
                            <a:latin typeface="Cambria Math" panose="02040503050406030204" pitchFamily="18" charset="0"/>
                          </a:rPr>
                          <m:t>log</m:t>
                        </m:r>
                        <m:r>
                          <a:rPr lang="en-US" sz="1200">
                            <a:latin typeface="Cambria Math" panose="02040503050406030204" pitchFamily="18" charset="0"/>
                          </a:rPr>
                          <m:t>𝑃</m:t>
                        </m:r>
                        <m:d>
                          <m:dPr>
                            <m:ctrlPr>
                              <a:rPr lang="ar-AE" sz="1200" i="1">
                                <a:latin typeface="Cambria Math" panose="02040503050406030204" pitchFamily="18" charset="0"/>
                              </a:rPr>
                            </m:ctrlPr>
                          </m:dPr>
                          <m:e>
                            <m:r>
                              <a:rPr lang="ar-AE" sz="1200">
                                <a:latin typeface="Cambria Math" panose="02040503050406030204" pitchFamily="18" charset="0"/>
                              </a:rPr>
                              <m:t>𝑋</m:t>
                            </m:r>
                            <m:r>
                              <a:rPr lang="ar-AE" sz="1200">
                                <a:latin typeface="Cambria Math" panose="02040503050406030204" pitchFamily="18" charset="0"/>
                              </a:rPr>
                              <m:t>,</m:t>
                            </m:r>
                            <m:r>
                              <a:rPr lang="ar-AE" sz="1200">
                                <a:latin typeface="Cambria Math" panose="02040503050406030204" pitchFamily="18" charset="0"/>
                              </a:rPr>
                              <m:t>𝑍</m:t>
                            </m:r>
                            <m:r>
                              <a:rPr lang="ar-AE" sz="1200">
                                <a:latin typeface="Cambria Math" panose="02040503050406030204" pitchFamily="18" charset="0"/>
                              </a:rPr>
                              <m:t>|</m:t>
                            </m:r>
                            <m:r>
                              <a:rPr lang="ar-AE" sz="1200">
                                <a:latin typeface="Cambria Math" panose="02040503050406030204" pitchFamily="18" charset="0"/>
                              </a:rPr>
                              <m:t>𝜃</m:t>
                            </m:r>
                          </m:e>
                        </m:d>
                      </m:e>
                    </m:d>
                    <m:r>
                      <a:rPr lang="ar-AE" sz="1200">
                        <a:latin typeface="Cambria Math" panose="02040503050406030204" pitchFamily="18" charset="0"/>
                      </a:rPr>
                      <m:t>.</m:t>
                    </m:r>
                  </m:oMath>
                </a14:m>
                <a:endParaRPr lang="ar-AE" sz="1200"/>
              </a:p>
              <a:p>
                <a:pPr marL="0" lvl="0" indent="0">
                  <a:lnSpc>
                    <a:spcPct val="90000"/>
                  </a:lnSpc>
                  <a:spcBef>
                    <a:spcPts val="3000"/>
                  </a:spcBef>
                  <a:buNone/>
                </a:pPr>
                <a:r>
                  <a:rPr lang="en-US" sz="1200" b="1"/>
                  <a:t>The M-step (Maximization)</a:t>
                </a:r>
              </a:p>
              <a:p>
                <a:pPr marL="342900" lvl="0" indent="-342900">
                  <a:lnSpc>
                    <a:spcPct val="90000"/>
                  </a:lnSpc>
                  <a:buAutoNum type="arabicPeriod" startAt="2"/>
                </a:pPr>
                <a:r>
                  <a:rPr lang="en-US" sz="1200"/>
                  <a:t>Update the parameter estimates by maximizing the expected log-likelihood:</a:t>
                </a:r>
              </a:p>
              <a:p>
                <a:pPr marL="342900" lvl="0" indent="-342900">
                  <a:lnSpc>
                    <a:spcPct val="90000"/>
                  </a:lnSpc>
                  <a:buAutoNum type="arabicPeriod" startAt="2"/>
                </a:pPr>
                <a14:m>
                  <m:oMath xmlns:m="http://schemas.openxmlformats.org/officeDocument/2006/math">
                    <m:sSup>
                      <m:sSupPr>
                        <m:ctrlPr>
                          <a:rPr lang="ar-AE" sz="1200" i="1">
                            <a:latin typeface="Cambria Math" panose="02040503050406030204" pitchFamily="18" charset="0"/>
                          </a:rPr>
                        </m:ctrlPr>
                      </m:sSupPr>
                      <m:e>
                        <m:r>
                          <a:rPr lang="ar-AE" sz="1200">
                            <a:latin typeface="Cambria Math" panose="02040503050406030204" pitchFamily="18" charset="0"/>
                          </a:rPr>
                          <m:t>𝜃</m:t>
                        </m:r>
                      </m:e>
                      <m:sup>
                        <m:d>
                          <m:dPr>
                            <m:ctrlPr>
                              <a:rPr lang="ar-AE" sz="1200" i="1">
                                <a:latin typeface="Cambria Math" panose="02040503050406030204" pitchFamily="18" charset="0"/>
                              </a:rPr>
                            </m:ctrlPr>
                          </m:dPr>
                          <m:e>
                            <m:r>
                              <a:rPr lang="ar-AE" sz="1200">
                                <a:latin typeface="Cambria Math" panose="02040503050406030204" pitchFamily="18" charset="0"/>
                              </a:rPr>
                              <m:t>𝑡</m:t>
                            </m:r>
                            <m:r>
                              <a:rPr lang="ar-AE" sz="1200">
                                <a:latin typeface="Cambria Math" panose="02040503050406030204" pitchFamily="18" charset="0"/>
                              </a:rPr>
                              <m:t>+</m:t>
                            </m:r>
                            <m:r>
                              <a:rPr lang="ar-AE" sz="1200">
                                <a:latin typeface="Cambria Math" panose="02040503050406030204" pitchFamily="18" charset="0"/>
                              </a:rPr>
                              <m:t>1</m:t>
                            </m:r>
                          </m:e>
                        </m:d>
                      </m:sup>
                    </m:sSup>
                    <m:r>
                      <a:rPr lang="ar-AE" sz="1200">
                        <a:latin typeface="Cambria Math" panose="02040503050406030204" pitchFamily="18" charset="0"/>
                      </a:rPr>
                      <m:t>=</m:t>
                    </m:r>
                    <m:r>
                      <m:rPr>
                        <m:sty m:val="p"/>
                      </m:rPr>
                      <a:rPr lang="en-US" sz="1200">
                        <a:latin typeface="Cambria Math" panose="02040503050406030204" pitchFamily="18" charset="0"/>
                      </a:rPr>
                      <m:t>arg</m:t>
                    </m:r>
                    <m:limLow>
                      <m:limLowPr>
                        <m:ctrlPr>
                          <a:rPr lang="ar-AE" sz="1200" i="1">
                            <a:latin typeface="Cambria Math" panose="02040503050406030204" pitchFamily="18" charset="0"/>
                          </a:rPr>
                        </m:ctrlPr>
                      </m:limLowPr>
                      <m:e>
                        <m:r>
                          <m:rPr>
                            <m:sty m:val="p"/>
                          </m:rPr>
                          <a:rPr lang="en-US" sz="1200">
                            <a:latin typeface="Cambria Math" panose="02040503050406030204" pitchFamily="18" charset="0"/>
                          </a:rPr>
                          <m:t>max</m:t>
                        </m:r>
                      </m:e>
                      <m:lim>
                        <m:r>
                          <a:rPr lang="ar-AE" sz="1200">
                            <a:latin typeface="Cambria Math" panose="02040503050406030204" pitchFamily="18" charset="0"/>
                          </a:rPr>
                          <m:t>𝜃</m:t>
                        </m:r>
                      </m:lim>
                    </m:limLow>
                    <m:r>
                      <a:rPr lang="ar-AE" sz="1200">
                        <a:latin typeface="Cambria Math" panose="02040503050406030204" pitchFamily="18" charset="0"/>
                      </a:rPr>
                      <m:t>𝑄</m:t>
                    </m:r>
                    <m:d>
                      <m:dPr>
                        <m:ctrlPr>
                          <a:rPr lang="ar-AE" sz="1200" i="1">
                            <a:latin typeface="Cambria Math" panose="02040503050406030204" pitchFamily="18" charset="0"/>
                          </a:rPr>
                        </m:ctrlPr>
                      </m:dPr>
                      <m:e>
                        <m:r>
                          <a:rPr lang="ar-AE" sz="1200">
                            <a:latin typeface="Cambria Math" panose="02040503050406030204" pitchFamily="18" charset="0"/>
                          </a:rPr>
                          <m:t>𝜃</m:t>
                        </m:r>
                        <m:r>
                          <a:rPr lang="ar-AE" sz="1200">
                            <a:latin typeface="Cambria Math" panose="02040503050406030204" pitchFamily="18" charset="0"/>
                          </a:rPr>
                          <m:t>|</m:t>
                        </m:r>
                        <m:sSup>
                          <m:sSupPr>
                            <m:ctrlPr>
                              <a:rPr lang="ar-AE" sz="1200" i="1">
                                <a:latin typeface="Cambria Math" panose="02040503050406030204" pitchFamily="18" charset="0"/>
                              </a:rPr>
                            </m:ctrlPr>
                          </m:sSupPr>
                          <m:e>
                            <m:r>
                              <a:rPr lang="ar-AE" sz="1200">
                                <a:latin typeface="Cambria Math" panose="02040503050406030204" pitchFamily="18" charset="0"/>
                              </a:rPr>
                              <m:t>𝜃</m:t>
                            </m:r>
                          </m:e>
                          <m:sup>
                            <m:d>
                              <m:dPr>
                                <m:ctrlPr>
                                  <a:rPr lang="ar-AE" sz="1200" i="1">
                                    <a:latin typeface="Cambria Math" panose="02040503050406030204" pitchFamily="18" charset="0"/>
                                  </a:rPr>
                                </m:ctrlPr>
                              </m:dPr>
                              <m:e>
                                <m:r>
                                  <a:rPr lang="ar-AE" sz="1200">
                                    <a:latin typeface="Cambria Math" panose="02040503050406030204" pitchFamily="18" charset="0"/>
                                  </a:rPr>
                                  <m:t>𝑡</m:t>
                                </m:r>
                              </m:e>
                            </m:d>
                          </m:sup>
                        </m:sSup>
                      </m:e>
                    </m:d>
                    <m:r>
                      <a:rPr lang="ar-AE" sz="1200">
                        <a:latin typeface="Cambria Math" panose="02040503050406030204" pitchFamily="18" charset="0"/>
                      </a:rPr>
                      <m:t>.</m:t>
                    </m:r>
                  </m:oMath>
                </a14:m>
                <a:endParaRPr lang="ar-AE" sz="1200"/>
              </a:p>
              <a:p>
                <a:pPr marL="342900" lvl="0" indent="-342900">
                  <a:lnSpc>
                    <a:spcPct val="90000"/>
                  </a:lnSpc>
                  <a:buAutoNum type="arabicPeriod" startAt="2"/>
                </a:pPr>
                <a:r>
                  <a:rPr lang="en-US" sz="1200"/>
                  <a:t>Repeat step 1 and 2 until it converges.</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5558589" y="1858518"/>
                <a:ext cx="2904183" cy="2770632"/>
              </a:xfrm>
              <a:blipFill>
                <a:blip r:embed="rId3"/>
                <a:stretch>
                  <a:fillRect l="-210" t="-441" b="-1322"/>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A06308E6-5630-2448-05D9-8572E72802B9}"/>
              </a:ext>
            </a:extLst>
          </p:cNvPr>
          <p:cNvSpPr txBox="1">
            <a:spLocks/>
          </p:cNvSpPr>
          <p:nvPr/>
        </p:nvSpPr>
        <p:spPr>
          <a:xfrm>
            <a:off x="4218051" y="1581170"/>
            <a:ext cx="4161594" cy="339070"/>
          </a:xfrm>
          <a:prstGeom prst="rect">
            <a:avLst/>
          </a:prstGeom>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spcBef>
                <a:spcPts val="3000"/>
              </a:spcBef>
            </a:pPr>
            <a:r>
              <a:rPr lang="en-US" sz="1400" b="1">
                <a:latin typeface="+mn-lt"/>
                <a:ea typeface="+mn-ea"/>
                <a:cs typeface="+mn-cs"/>
              </a:rPr>
              <a:t>The E-step (Expectation)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6733" y="98480"/>
            <a:ext cx="8229600" cy="857250"/>
          </a:xfrm>
          <a:noFill/>
          <a:ln>
            <a:solidFill>
              <a:schemeClr val="accent1"/>
            </a:solidFill>
          </a:ln>
        </p:spPr>
        <p:txBody>
          <a:bodyPr>
            <a:normAutofit/>
          </a:bodyPr>
          <a:lstStyle/>
          <a:p>
            <a:pPr marL="0" lvl="0" indent="0">
              <a:buNone/>
            </a:pPr>
            <a:r>
              <a:rPr sz="2400" b="1" dirty="0"/>
              <a:t>Example 1</a:t>
            </a:r>
            <a:r>
              <a:rPr lang="en-US" sz="2400" b="1" dirty="0"/>
              <a:t>: The Simple Exponential Distribution</a:t>
            </a:r>
            <a:endParaRPr sz="2400" b="1"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85224" y="1117024"/>
                <a:ext cx="8610600" cy="3164030"/>
              </a:xfrm>
            </p:spPr>
            <p:txBody>
              <a:bodyPr>
                <a:normAutofit/>
              </a:bodyPr>
              <a:lstStyle/>
              <a:p>
                <a:pPr marL="0" lvl="0" indent="0">
                  <a:buNone/>
                </a:pPr>
                <a:r>
                  <a:rPr lang="en-US" sz="1400" dirty="0"/>
                  <a:t>Let's</a:t>
                </a:r>
                <a:r>
                  <a:rPr sz="1400" dirty="0"/>
                  <a:t> consider a simple example where </a:t>
                </a:r>
                <a14:m>
                  <m:oMath xmlns:m="http://schemas.openxmlformats.org/officeDocument/2006/math">
                    <m:sSub>
                      <m:sSubPr>
                        <m:ctrlPr>
                          <a:rPr sz="1400">
                            <a:latin typeface="Cambria Math" panose="02040503050406030204" pitchFamily="18" charset="0"/>
                          </a:rPr>
                        </m:ctrlPr>
                      </m:sSubPr>
                      <m:e>
                        <m:r>
                          <a:rPr sz="1400">
                            <a:latin typeface="Cambria Math" panose="02040503050406030204" pitchFamily="18" charset="0"/>
                          </a:rPr>
                          <m:t>𝑌</m:t>
                        </m:r>
                      </m:e>
                      <m:sub>
                        <m:r>
                          <a:rPr sz="1400">
                            <a:latin typeface="Cambria Math" panose="02040503050406030204" pitchFamily="18" charset="0"/>
                          </a:rPr>
                          <m:t>1</m:t>
                        </m:r>
                      </m:sub>
                    </m:sSub>
                    <m:r>
                      <a:rPr sz="1400">
                        <a:latin typeface="Cambria Math" panose="02040503050406030204" pitchFamily="18" charset="0"/>
                      </a:rPr>
                      <m:t>,</m:t>
                    </m:r>
                    <m:sSub>
                      <m:sSubPr>
                        <m:ctrlPr>
                          <a:rPr sz="1400" i="1">
                            <a:latin typeface="Cambria Math" panose="02040503050406030204" pitchFamily="18" charset="0"/>
                          </a:rPr>
                        </m:ctrlPr>
                      </m:sSubPr>
                      <m:e>
                        <m:r>
                          <a:rPr sz="1400">
                            <a:latin typeface="Cambria Math" panose="02040503050406030204" pitchFamily="18" charset="0"/>
                          </a:rPr>
                          <m:t>𝑌</m:t>
                        </m:r>
                      </m:e>
                      <m:sub>
                        <m:r>
                          <a:rPr sz="1400">
                            <a:latin typeface="Cambria Math" panose="02040503050406030204" pitchFamily="18" charset="0"/>
                          </a:rPr>
                          <m:t>2</m:t>
                        </m:r>
                      </m:sub>
                    </m:sSub>
                    <m:r>
                      <a:rPr sz="1400">
                        <a:latin typeface="Cambria Math" panose="02040503050406030204" pitchFamily="18" charset="0"/>
                      </a:rPr>
                      <m:t>∼</m:t>
                    </m:r>
                    <m:r>
                      <m:rPr>
                        <m:nor/>
                      </m:rPr>
                      <a:rPr sz="1400"/>
                      <m:t>i</m:t>
                    </m:r>
                    <m:r>
                      <m:rPr>
                        <m:nor/>
                      </m:rPr>
                      <a:rPr sz="1400"/>
                      <m:t>.</m:t>
                    </m:r>
                    <m:r>
                      <m:rPr>
                        <m:nor/>
                      </m:rPr>
                      <a:rPr sz="1400"/>
                      <m:t>i</m:t>
                    </m:r>
                    <m:r>
                      <m:rPr>
                        <m:nor/>
                      </m:rPr>
                      <a:rPr sz="1400"/>
                      <m:t>.</m:t>
                    </m:r>
                    <m:r>
                      <m:rPr>
                        <m:nor/>
                      </m:rPr>
                      <a:rPr sz="1400"/>
                      <m:t>d</m:t>
                    </m:r>
                    <m:r>
                      <m:rPr>
                        <m:nor/>
                      </m:rPr>
                      <a:rPr sz="1400"/>
                      <m:t>. </m:t>
                    </m:r>
                    <m:r>
                      <m:rPr>
                        <m:nor/>
                      </m:rPr>
                      <a:rPr sz="1400"/>
                      <m:t>Exp</m:t>
                    </m:r>
                    <m:d>
                      <m:dPr>
                        <m:ctrlPr>
                          <a:rPr sz="1400" i="1">
                            <a:latin typeface="Cambria Math" panose="02040503050406030204" pitchFamily="18" charset="0"/>
                          </a:rPr>
                        </m:ctrlPr>
                      </m:dPr>
                      <m:e>
                        <m:r>
                          <a:rPr sz="1400">
                            <a:latin typeface="Cambria Math" panose="02040503050406030204" pitchFamily="18" charset="0"/>
                          </a:rPr>
                          <m:t>𝜃</m:t>
                        </m:r>
                      </m:e>
                    </m:d>
                  </m:oMath>
                </a14:m>
                <a:r>
                  <a:rPr sz="1400" dirty="0"/>
                  <a:t>. Suppose </a:t>
                </a:r>
                <a14:m>
                  <m:oMath xmlns:m="http://schemas.openxmlformats.org/officeDocument/2006/math">
                    <m:sSub>
                      <m:sSubPr>
                        <m:ctrlPr>
                          <a:rPr sz="1400">
                            <a:latin typeface="Cambria Math" panose="02040503050406030204" pitchFamily="18" charset="0"/>
                          </a:rPr>
                        </m:ctrlPr>
                      </m:sSubPr>
                      <m:e>
                        <m:r>
                          <a:rPr sz="1400">
                            <a:latin typeface="Cambria Math" panose="02040503050406030204" pitchFamily="18" charset="0"/>
                          </a:rPr>
                          <m:t>𝑦</m:t>
                        </m:r>
                      </m:e>
                      <m:sub>
                        <m:r>
                          <a:rPr sz="1400">
                            <a:latin typeface="Cambria Math" panose="02040503050406030204" pitchFamily="18" charset="0"/>
                          </a:rPr>
                          <m:t>1</m:t>
                        </m:r>
                      </m:sub>
                    </m:sSub>
                    <m:r>
                      <a:rPr sz="1400">
                        <a:latin typeface="Cambria Math" panose="02040503050406030204" pitchFamily="18" charset="0"/>
                      </a:rPr>
                      <m:t>=</m:t>
                    </m:r>
                    <m:r>
                      <a:rPr sz="1400">
                        <a:latin typeface="Cambria Math" panose="02040503050406030204" pitchFamily="18" charset="0"/>
                      </a:rPr>
                      <m:t>5</m:t>
                    </m:r>
                  </m:oMath>
                </a14:m>
                <a:r>
                  <a:rPr sz="1400" dirty="0"/>
                  <a:t> is observed but the value </a:t>
                </a:r>
                <a14:m>
                  <m:oMath xmlns:m="http://schemas.openxmlformats.org/officeDocument/2006/math">
                    <m:sSub>
                      <m:sSubPr>
                        <m:ctrlPr>
                          <a:rPr sz="1400">
                            <a:latin typeface="Cambria Math" panose="02040503050406030204" pitchFamily="18" charset="0"/>
                          </a:rPr>
                        </m:ctrlPr>
                      </m:sSubPr>
                      <m:e>
                        <m:r>
                          <a:rPr sz="1400">
                            <a:latin typeface="Cambria Math" panose="02040503050406030204" pitchFamily="18" charset="0"/>
                          </a:rPr>
                          <m:t>𝑦</m:t>
                        </m:r>
                      </m:e>
                      <m:sub>
                        <m:r>
                          <a:rPr sz="1400">
                            <a:latin typeface="Cambria Math" panose="02040503050406030204" pitchFamily="18" charset="0"/>
                          </a:rPr>
                          <m:t>2</m:t>
                        </m:r>
                      </m:sub>
                    </m:sSub>
                  </m:oMath>
                </a14:m>
                <a:r>
                  <a:rPr sz="1400" dirty="0"/>
                  <a:t> is missing. The complete-data log likelihood function is</a:t>
                </a:r>
              </a:p>
              <a:p>
                <a:pPr marL="0" lvl="0" indent="0">
                  <a:buNone/>
                </a:pPr>
                <a14:m>
                  <m:oMathPara xmlns:m="http://schemas.openxmlformats.org/officeDocument/2006/math">
                    <m:oMathParaPr>
                      <m:jc m:val="center"/>
                    </m:oMathParaPr>
                    <m:oMath xmlns:m="http://schemas.openxmlformats.org/officeDocument/2006/math">
                      <m:r>
                        <m:rPr>
                          <m:sty m:val="p"/>
                        </m:rPr>
                        <a:rPr sz="1400">
                          <a:latin typeface="Cambria Math" panose="02040503050406030204" pitchFamily="18" charset="0"/>
                        </a:rPr>
                        <m:t>log</m:t>
                      </m:r>
                      <m:sSub>
                        <m:sSubPr>
                          <m:ctrlPr>
                            <a:rPr sz="1400" i="1">
                              <a:latin typeface="Cambria Math" panose="02040503050406030204" pitchFamily="18" charset="0"/>
                            </a:rPr>
                          </m:ctrlPr>
                        </m:sSubPr>
                        <m:e>
                          <m:r>
                            <a:rPr sz="1400">
                              <a:latin typeface="Cambria Math" panose="02040503050406030204" pitchFamily="18" charset="0"/>
                            </a:rPr>
                            <m:t>𝑓</m:t>
                          </m:r>
                        </m:e>
                        <m:sub>
                          <m:r>
                            <a:rPr sz="1400">
                              <a:latin typeface="Cambria Math" panose="02040503050406030204" pitchFamily="18" charset="0"/>
                            </a:rPr>
                            <m:t>𝑌</m:t>
                          </m:r>
                        </m:sub>
                      </m:sSub>
                      <m:d>
                        <m:dPr>
                          <m:ctrlPr>
                            <a:rPr sz="1400" i="1">
                              <a:latin typeface="Cambria Math" panose="02040503050406030204" pitchFamily="18" charset="0"/>
                            </a:rPr>
                          </m:ctrlPr>
                        </m:dPr>
                        <m:e>
                          <m:r>
                            <a:rPr sz="1400">
                              <a:latin typeface="Cambria Math" panose="02040503050406030204" pitchFamily="18" charset="0"/>
                            </a:rPr>
                            <m:t>𝑦</m:t>
                          </m:r>
                          <m:r>
                            <a:rPr sz="1400">
                              <a:latin typeface="Cambria Math" panose="02040503050406030204" pitchFamily="18" charset="0"/>
                            </a:rPr>
                            <m:t>|</m:t>
                          </m:r>
                          <m:r>
                            <a:rPr sz="1400">
                              <a:latin typeface="Cambria Math" panose="02040503050406030204" pitchFamily="18" charset="0"/>
                            </a:rPr>
                            <m:t>𝜃</m:t>
                          </m:r>
                        </m:e>
                      </m:d>
                      <m:r>
                        <a:rPr sz="1400">
                          <a:latin typeface="Cambria Math" panose="02040503050406030204" pitchFamily="18" charset="0"/>
                        </a:rPr>
                        <m:t>=</m:t>
                      </m:r>
                      <m:r>
                        <a:rPr sz="1400">
                          <a:latin typeface="Cambria Math" panose="02040503050406030204" pitchFamily="18" charset="0"/>
                        </a:rPr>
                        <m:t>2</m:t>
                      </m:r>
                      <m:r>
                        <m:rPr>
                          <m:sty m:val="p"/>
                        </m:rPr>
                        <a:rPr sz="1400">
                          <a:latin typeface="Cambria Math" panose="02040503050406030204" pitchFamily="18" charset="0"/>
                        </a:rPr>
                        <m:t>log</m:t>
                      </m:r>
                      <m:r>
                        <a:rPr sz="1400">
                          <a:latin typeface="Cambria Math" panose="02040503050406030204" pitchFamily="18" charset="0"/>
                        </a:rPr>
                        <m:t>{</m:t>
                      </m:r>
                      <m:r>
                        <a:rPr sz="1400">
                          <a:latin typeface="Cambria Math" panose="02040503050406030204" pitchFamily="18" charset="0"/>
                        </a:rPr>
                        <m:t>𝜃</m:t>
                      </m:r>
                      <m:r>
                        <a:rPr sz="1400">
                          <a:latin typeface="Cambria Math" panose="02040503050406030204" pitchFamily="18" charset="0"/>
                        </a:rPr>
                        <m:t>}−</m:t>
                      </m:r>
                      <m:r>
                        <a:rPr sz="1400">
                          <a:latin typeface="Cambria Math" panose="02040503050406030204" pitchFamily="18" charset="0"/>
                        </a:rPr>
                        <m:t>𝜃</m:t>
                      </m:r>
                      <m:sSub>
                        <m:sSubPr>
                          <m:ctrlPr>
                            <a:rPr sz="1400" i="1">
                              <a:latin typeface="Cambria Math" panose="02040503050406030204" pitchFamily="18" charset="0"/>
                            </a:rPr>
                          </m:ctrlPr>
                        </m:sSubPr>
                        <m:e>
                          <m:r>
                            <a:rPr sz="1400">
                              <a:latin typeface="Cambria Math" panose="02040503050406030204" pitchFamily="18" charset="0"/>
                            </a:rPr>
                            <m:t>𝑦</m:t>
                          </m:r>
                        </m:e>
                        <m:sub>
                          <m:r>
                            <a:rPr sz="1400">
                              <a:latin typeface="Cambria Math" panose="02040503050406030204" pitchFamily="18" charset="0"/>
                            </a:rPr>
                            <m:t>1</m:t>
                          </m:r>
                        </m:sub>
                      </m:sSub>
                      <m:r>
                        <a:rPr sz="1400">
                          <a:latin typeface="Cambria Math" panose="02040503050406030204" pitchFamily="18" charset="0"/>
                        </a:rPr>
                        <m:t>−</m:t>
                      </m:r>
                      <m:r>
                        <a:rPr sz="1400">
                          <a:latin typeface="Cambria Math" panose="02040503050406030204" pitchFamily="18" charset="0"/>
                        </a:rPr>
                        <m:t>𝜃</m:t>
                      </m:r>
                      <m:sSub>
                        <m:sSubPr>
                          <m:ctrlPr>
                            <a:rPr sz="1400" i="1">
                              <a:latin typeface="Cambria Math" panose="02040503050406030204" pitchFamily="18" charset="0"/>
                            </a:rPr>
                          </m:ctrlPr>
                        </m:sSubPr>
                        <m:e>
                          <m:r>
                            <a:rPr sz="1400">
                              <a:latin typeface="Cambria Math" panose="02040503050406030204" pitchFamily="18" charset="0"/>
                            </a:rPr>
                            <m:t>𝑦</m:t>
                          </m:r>
                        </m:e>
                        <m:sub>
                          <m:r>
                            <a:rPr sz="1400">
                              <a:latin typeface="Cambria Math" panose="02040503050406030204" pitchFamily="18" charset="0"/>
                            </a:rPr>
                            <m:t>2</m:t>
                          </m:r>
                        </m:sub>
                      </m:sSub>
                      <m:r>
                        <a:rPr sz="1400">
                          <a:latin typeface="Cambria Math" panose="02040503050406030204" pitchFamily="18" charset="0"/>
                        </a:rPr>
                        <m:t>.</m:t>
                      </m:r>
                    </m:oMath>
                  </m:oMathPara>
                </a14:m>
                <a:endParaRPr sz="1400" dirty="0"/>
              </a:p>
              <a:p>
                <a:pPr marL="0" lvl="0" indent="0">
                  <a:buNone/>
                </a:pPr>
                <a:r>
                  <a:rPr sz="1400" dirty="0"/>
                  <a:t>Taking the conditional expectation of </a:t>
                </a:r>
                <a14:m>
                  <m:oMath xmlns:m="http://schemas.openxmlformats.org/officeDocument/2006/math">
                    <m:r>
                      <m:rPr>
                        <m:sty m:val="p"/>
                      </m:rPr>
                      <a:rPr sz="1400">
                        <a:latin typeface="Cambria Math" panose="02040503050406030204" pitchFamily="18" charset="0"/>
                      </a:rPr>
                      <m:t>log</m:t>
                    </m:r>
                    <m:r>
                      <a:rPr sz="1400">
                        <a:latin typeface="Cambria Math" panose="02040503050406030204" pitchFamily="18" charset="0"/>
                      </a:rPr>
                      <m:t>𝐿</m:t>
                    </m:r>
                    <m:d>
                      <m:dPr>
                        <m:ctrlPr>
                          <a:rPr sz="1400" i="1">
                            <a:latin typeface="Cambria Math" panose="02040503050406030204" pitchFamily="18" charset="0"/>
                          </a:rPr>
                        </m:ctrlPr>
                      </m:dPr>
                      <m:e>
                        <m:r>
                          <a:rPr sz="1400">
                            <a:latin typeface="Cambria Math" panose="02040503050406030204" pitchFamily="18" charset="0"/>
                          </a:rPr>
                          <m:t>𝜃</m:t>
                        </m:r>
                        <m:r>
                          <a:rPr sz="1400">
                            <a:latin typeface="Cambria Math" panose="02040503050406030204" pitchFamily="18" charset="0"/>
                          </a:rPr>
                          <m:t>|</m:t>
                        </m:r>
                        <m:r>
                          <a:rPr sz="1400">
                            <a:latin typeface="Cambria Math" panose="02040503050406030204" pitchFamily="18" charset="0"/>
                          </a:rPr>
                          <m:t>𝑌</m:t>
                        </m:r>
                      </m:e>
                    </m:d>
                  </m:oMath>
                </a14:m>
                <a:r>
                  <a:rPr sz="1400" dirty="0"/>
                  <a:t> yields</a:t>
                </a:r>
              </a:p>
              <a:p>
                <a:pPr marL="0" lvl="0" indent="0">
                  <a:buNone/>
                </a:pPr>
                <a14:m>
                  <m:oMathPara xmlns:m="http://schemas.openxmlformats.org/officeDocument/2006/math">
                    <m:oMathParaPr>
                      <m:jc m:val="center"/>
                    </m:oMathParaPr>
                    <m:oMath xmlns:m="http://schemas.openxmlformats.org/officeDocument/2006/math">
                      <m:r>
                        <a:rPr sz="1400">
                          <a:latin typeface="Cambria Math" panose="02040503050406030204" pitchFamily="18" charset="0"/>
                        </a:rPr>
                        <m:t>𝑄</m:t>
                      </m:r>
                      <m:d>
                        <m:dPr>
                          <m:ctrlPr>
                            <a:rPr sz="1400" i="1">
                              <a:latin typeface="Cambria Math" panose="02040503050406030204" pitchFamily="18" charset="0"/>
                            </a:rPr>
                          </m:ctrlPr>
                        </m:dPr>
                        <m:e>
                          <m:r>
                            <a:rPr sz="1400">
                              <a:latin typeface="Cambria Math" panose="02040503050406030204" pitchFamily="18" charset="0"/>
                            </a:rPr>
                            <m:t>𝜃</m:t>
                          </m:r>
                          <m:r>
                            <a:rPr sz="1400">
                              <a:latin typeface="Cambria Math" panose="02040503050406030204" pitchFamily="18" charset="0"/>
                            </a:rPr>
                            <m:t>|</m:t>
                          </m:r>
                          <m:sSup>
                            <m:sSupPr>
                              <m:ctrlPr>
                                <a:rPr sz="1400" i="1">
                                  <a:latin typeface="Cambria Math" panose="02040503050406030204" pitchFamily="18" charset="0"/>
                                </a:rPr>
                              </m:ctrlPr>
                            </m:sSupPr>
                            <m:e>
                              <m:r>
                                <a:rPr sz="1400">
                                  <a:latin typeface="Cambria Math" panose="02040503050406030204" pitchFamily="18" charset="0"/>
                                </a:rPr>
                                <m:t>𝜃</m:t>
                              </m:r>
                            </m:e>
                            <m:sup>
                              <m:d>
                                <m:dPr>
                                  <m:ctrlPr>
                                    <a:rPr sz="1400" i="1">
                                      <a:latin typeface="Cambria Math" panose="02040503050406030204" pitchFamily="18" charset="0"/>
                                    </a:rPr>
                                  </m:ctrlPr>
                                </m:dPr>
                                <m:e>
                                  <m:r>
                                    <a:rPr sz="1400">
                                      <a:latin typeface="Cambria Math" panose="02040503050406030204" pitchFamily="18" charset="0"/>
                                    </a:rPr>
                                    <m:t>𝑡</m:t>
                                  </m:r>
                                </m:e>
                              </m:d>
                            </m:sup>
                          </m:sSup>
                        </m:e>
                      </m:d>
                      <m:r>
                        <a:rPr sz="1400">
                          <a:latin typeface="Cambria Math" panose="02040503050406030204" pitchFamily="18" charset="0"/>
                        </a:rPr>
                        <m:t>=</m:t>
                      </m:r>
                      <m:r>
                        <a:rPr sz="1400">
                          <a:latin typeface="Cambria Math" panose="02040503050406030204" pitchFamily="18" charset="0"/>
                        </a:rPr>
                        <m:t>2</m:t>
                      </m:r>
                      <m:r>
                        <m:rPr>
                          <m:sty m:val="p"/>
                        </m:rPr>
                        <a:rPr sz="1400">
                          <a:latin typeface="Cambria Math" panose="02040503050406030204" pitchFamily="18" charset="0"/>
                        </a:rPr>
                        <m:t>log</m:t>
                      </m:r>
                      <m:r>
                        <a:rPr sz="1400">
                          <a:latin typeface="Cambria Math" panose="02040503050406030204" pitchFamily="18" charset="0"/>
                        </a:rPr>
                        <m:t>{</m:t>
                      </m:r>
                      <m:r>
                        <a:rPr sz="1400">
                          <a:latin typeface="Cambria Math" panose="02040503050406030204" pitchFamily="18" charset="0"/>
                        </a:rPr>
                        <m:t>𝜃</m:t>
                      </m:r>
                      <m:r>
                        <a:rPr sz="1400">
                          <a:latin typeface="Cambria Math" panose="02040503050406030204" pitchFamily="18" charset="0"/>
                        </a:rPr>
                        <m:t>}−</m:t>
                      </m:r>
                      <m:r>
                        <a:rPr sz="1400">
                          <a:latin typeface="Cambria Math" panose="02040503050406030204" pitchFamily="18" charset="0"/>
                        </a:rPr>
                        <m:t>5</m:t>
                      </m:r>
                      <m:r>
                        <a:rPr sz="1400">
                          <a:latin typeface="Cambria Math" panose="02040503050406030204" pitchFamily="18" charset="0"/>
                        </a:rPr>
                        <m:t>𝜃</m:t>
                      </m:r>
                      <m:r>
                        <a:rPr sz="1400">
                          <a:latin typeface="Cambria Math" panose="02040503050406030204" pitchFamily="18" charset="0"/>
                        </a:rPr>
                        <m:t>−</m:t>
                      </m:r>
                      <m:r>
                        <a:rPr sz="1400">
                          <a:latin typeface="Cambria Math" panose="02040503050406030204" pitchFamily="18" charset="0"/>
                        </a:rPr>
                        <m:t>𝜃</m:t>
                      </m:r>
                      <m:r>
                        <a:rPr sz="1400">
                          <a:latin typeface="Cambria Math" panose="02040503050406030204" pitchFamily="18" charset="0"/>
                        </a:rPr>
                        <m:t>𝐸</m:t>
                      </m:r>
                      <m:d>
                        <m:dPr>
                          <m:begChr m:val="["/>
                          <m:endChr m:val="]"/>
                          <m:ctrlPr>
                            <a:rPr sz="1400" i="1">
                              <a:latin typeface="Cambria Math" panose="02040503050406030204" pitchFamily="18" charset="0"/>
                            </a:rPr>
                          </m:ctrlPr>
                        </m:dPr>
                        <m:e>
                          <m:sSub>
                            <m:sSubPr>
                              <m:ctrlPr>
                                <a:rPr sz="1400" i="1">
                                  <a:latin typeface="Cambria Math" panose="02040503050406030204" pitchFamily="18" charset="0"/>
                                </a:rPr>
                              </m:ctrlPr>
                            </m:sSubPr>
                            <m:e>
                              <m:r>
                                <a:rPr sz="1400">
                                  <a:latin typeface="Cambria Math" panose="02040503050406030204" pitchFamily="18" charset="0"/>
                                </a:rPr>
                                <m:t>𝑌</m:t>
                              </m:r>
                            </m:e>
                            <m:sub>
                              <m:r>
                                <a:rPr sz="1400">
                                  <a:latin typeface="Cambria Math" panose="02040503050406030204" pitchFamily="18" charset="0"/>
                                </a:rPr>
                                <m:t>2</m:t>
                              </m:r>
                            </m:sub>
                          </m:sSub>
                          <m:r>
                            <a:rPr sz="1400">
                              <a:latin typeface="Cambria Math" panose="02040503050406030204" pitchFamily="18" charset="0"/>
                            </a:rPr>
                            <m:t>|</m:t>
                          </m:r>
                          <m:sSub>
                            <m:sSubPr>
                              <m:ctrlPr>
                                <a:rPr sz="1400" i="1">
                                  <a:latin typeface="Cambria Math" panose="02040503050406030204" pitchFamily="18" charset="0"/>
                                </a:rPr>
                              </m:ctrlPr>
                            </m:sSubPr>
                            <m:e>
                              <m:r>
                                <a:rPr sz="1400">
                                  <a:latin typeface="Cambria Math" panose="02040503050406030204" pitchFamily="18" charset="0"/>
                                </a:rPr>
                                <m:t>𝑦</m:t>
                              </m:r>
                            </m:e>
                            <m:sub>
                              <m:r>
                                <a:rPr sz="1400">
                                  <a:latin typeface="Cambria Math" panose="02040503050406030204" pitchFamily="18" charset="0"/>
                                </a:rPr>
                                <m:t>1</m:t>
                              </m:r>
                            </m:sub>
                          </m:sSub>
                          <m:r>
                            <a:rPr sz="1400">
                              <a:latin typeface="Cambria Math" panose="02040503050406030204" pitchFamily="18" charset="0"/>
                            </a:rPr>
                            <m:t>,</m:t>
                          </m:r>
                          <m:sSup>
                            <m:sSupPr>
                              <m:ctrlPr>
                                <a:rPr sz="1400" i="1">
                                  <a:latin typeface="Cambria Math" panose="02040503050406030204" pitchFamily="18" charset="0"/>
                                </a:rPr>
                              </m:ctrlPr>
                            </m:sSupPr>
                            <m:e>
                              <m:r>
                                <a:rPr sz="1400">
                                  <a:latin typeface="Cambria Math" panose="02040503050406030204" pitchFamily="18" charset="0"/>
                                </a:rPr>
                                <m:t>𝜃</m:t>
                              </m:r>
                            </m:e>
                            <m:sup>
                              <m:d>
                                <m:dPr>
                                  <m:ctrlPr>
                                    <a:rPr sz="1400" i="1">
                                      <a:latin typeface="Cambria Math" panose="02040503050406030204" pitchFamily="18" charset="0"/>
                                    </a:rPr>
                                  </m:ctrlPr>
                                </m:dPr>
                                <m:e>
                                  <m:r>
                                    <a:rPr sz="1400">
                                      <a:latin typeface="Cambria Math" panose="02040503050406030204" pitchFamily="18" charset="0"/>
                                    </a:rPr>
                                    <m:t>𝑡</m:t>
                                  </m:r>
                                </m:e>
                              </m:d>
                            </m:sup>
                          </m:sSup>
                        </m:e>
                      </m:d>
                      <m:r>
                        <a:rPr sz="1400">
                          <a:latin typeface="Cambria Math" panose="02040503050406030204" pitchFamily="18" charset="0"/>
                        </a:rPr>
                        <m:t>,</m:t>
                      </m:r>
                    </m:oMath>
                  </m:oMathPara>
                </a14:m>
                <a:endParaRPr sz="1400" dirty="0"/>
              </a:p>
              <a:p>
                <a:pPr marL="0" lvl="0" indent="0">
                  <a:buNone/>
                </a:pPr>
                <a:r>
                  <a:rPr sz="1400" dirty="0"/>
                  <a:t>By independence, </a:t>
                </a:r>
                <a14:m>
                  <m:oMath xmlns:m="http://schemas.openxmlformats.org/officeDocument/2006/math">
                    <m:r>
                      <a:rPr sz="1400">
                        <a:latin typeface="Cambria Math" panose="02040503050406030204" pitchFamily="18" charset="0"/>
                      </a:rPr>
                      <m:t>𝐸</m:t>
                    </m:r>
                    <m:d>
                      <m:dPr>
                        <m:begChr m:val="["/>
                        <m:endChr m:val="]"/>
                        <m:ctrlPr>
                          <a:rPr sz="1400" i="1">
                            <a:latin typeface="Cambria Math" panose="02040503050406030204" pitchFamily="18" charset="0"/>
                          </a:rPr>
                        </m:ctrlPr>
                      </m:dPr>
                      <m:e>
                        <m:sSub>
                          <m:sSubPr>
                            <m:ctrlPr>
                              <a:rPr sz="1400" i="1">
                                <a:latin typeface="Cambria Math" panose="02040503050406030204" pitchFamily="18" charset="0"/>
                              </a:rPr>
                            </m:ctrlPr>
                          </m:sSubPr>
                          <m:e>
                            <m:r>
                              <a:rPr sz="1400">
                                <a:latin typeface="Cambria Math" panose="02040503050406030204" pitchFamily="18" charset="0"/>
                              </a:rPr>
                              <m:t>𝑌</m:t>
                            </m:r>
                          </m:e>
                          <m:sub>
                            <m:r>
                              <a:rPr sz="1400">
                                <a:latin typeface="Cambria Math" panose="02040503050406030204" pitchFamily="18" charset="0"/>
                              </a:rPr>
                              <m:t>2</m:t>
                            </m:r>
                          </m:sub>
                        </m:sSub>
                        <m:r>
                          <a:rPr sz="1400">
                            <a:latin typeface="Cambria Math" panose="02040503050406030204" pitchFamily="18" charset="0"/>
                          </a:rPr>
                          <m:t>|</m:t>
                        </m:r>
                        <m:sSub>
                          <m:sSubPr>
                            <m:ctrlPr>
                              <a:rPr sz="1400" i="1">
                                <a:latin typeface="Cambria Math" panose="02040503050406030204" pitchFamily="18" charset="0"/>
                              </a:rPr>
                            </m:ctrlPr>
                          </m:sSubPr>
                          <m:e>
                            <m:r>
                              <a:rPr sz="1400">
                                <a:latin typeface="Cambria Math" panose="02040503050406030204" pitchFamily="18" charset="0"/>
                              </a:rPr>
                              <m:t>𝑦</m:t>
                            </m:r>
                          </m:e>
                          <m:sub>
                            <m:r>
                              <a:rPr sz="1400">
                                <a:latin typeface="Cambria Math" panose="02040503050406030204" pitchFamily="18" charset="0"/>
                              </a:rPr>
                              <m:t>1</m:t>
                            </m:r>
                          </m:sub>
                        </m:sSub>
                        <m:r>
                          <a:rPr sz="1400">
                            <a:latin typeface="Cambria Math" panose="02040503050406030204" pitchFamily="18" charset="0"/>
                          </a:rPr>
                          <m:t>,</m:t>
                        </m:r>
                        <m:sSup>
                          <m:sSupPr>
                            <m:ctrlPr>
                              <a:rPr sz="1400" i="1">
                                <a:latin typeface="Cambria Math" panose="02040503050406030204" pitchFamily="18" charset="0"/>
                              </a:rPr>
                            </m:ctrlPr>
                          </m:sSupPr>
                          <m:e>
                            <m:r>
                              <a:rPr sz="1400">
                                <a:latin typeface="Cambria Math" panose="02040503050406030204" pitchFamily="18" charset="0"/>
                              </a:rPr>
                              <m:t>𝜃</m:t>
                            </m:r>
                          </m:e>
                          <m:sup>
                            <m:d>
                              <m:dPr>
                                <m:ctrlPr>
                                  <a:rPr sz="1400" i="1">
                                    <a:latin typeface="Cambria Math" panose="02040503050406030204" pitchFamily="18" charset="0"/>
                                  </a:rPr>
                                </m:ctrlPr>
                              </m:dPr>
                              <m:e>
                                <m:r>
                                  <a:rPr sz="1400">
                                    <a:latin typeface="Cambria Math" panose="02040503050406030204" pitchFamily="18" charset="0"/>
                                  </a:rPr>
                                  <m:t>𝑡</m:t>
                                </m:r>
                              </m:e>
                            </m:d>
                          </m:sup>
                        </m:sSup>
                      </m:e>
                    </m:d>
                    <m:r>
                      <a:rPr sz="1400">
                        <a:latin typeface="Cambria Math" panose="02040503050406030204" pitchFamily="18" charset="0"/>
                      </a:rPr>
                      <m:t>=</m:t>
                    </m:r>
                    <m:r>
                      <a:rPr sz="1400">
                        <a:latin typeface="Cambria Math" panose="02040503050406030204" pitchFamily="18" charset="0"/>
                      </a:rPr>
                      <m:t>𝐸</m:t>
                    </m:r>
                    <m:d>
                      <m:dPr>
                        <m:begChr m:val="["/>
                        <m:endChr m:val="]"/>
                        <m:ctrlPr>
                          <a:rPr sz="1400" i="1">
                            <a:latin typeface="Cambria Math" panose="02040503050406030204" pitchFamily="18" charset="0"/>
                          </a:rPr>
                        </m:ctrlPr>
                      </m:dPr>
                      <m:e>
                        <m:sSub>
                          <m:sSubPr>
                            <m:ctrlPr>
                              <a:rPr sz="1400" i="1">
                                <a:latin typeface="Cambria Math" panose="02040503050406030204" pitchFamily="18" charset="0"/>
                              </a:rPr>
                            </m:ctrlPr>
                          </m:sSubPr>
                          <m:e>
                            <m:r>
                              <a:rPr sz="1400">
                                <a:latin typeface="Cambria Math" panose="02040503050406030204" pitchFamily="18" charset="0"/>
                              </a:rPr>
                              <m:t>𝑌</m:t>
                            </m:r>
                          </m:e>
                          <m:sub>
                            <m:r>
                              <a:rPr sz="1400">
                                <a:latin typeface="Cambria Math" panose="02040503050406030204" pitchFamily="18" charset="0"/>
                              </a:rPr>
                              <m:t>2</m:t>
                            </m:r>
                          </m:sub>
                        </m:sSub>
                        <m:r>
                          <a:rPr sz="1400">
                            <a:latin typeface="Cambria Math" panose="02040503050406030204" pitchFamily="18" charset="0"/>
                          </a:rPr>
                          <m:t>|</m:t>
                        </m:r>
                        <m:sSup>
                          <m:sSupPr>
                            <m:ctrlPr>
                              <a:rPr sz="1400" i="1">
                                <a:latin typeface="Cambria Math" panose="02040503050406030204" pitchFamily="18" charset="0"/>
                              </a:rPr>
                            </m:ctrlPr>
                          </m:sSupPr>
                          <m:e>
                            <m:r>
                              <a:rPr sz="1400">
                                <a:latin typeface="Cambria Math" panose="02040503050406030204" pitchFamily="18" charset="0"/>
                              </a:rPr>
                              <m:t>𝜃</m:t>
                            </m:r>
                          </m:e>
                          <m:sup>
                            <m:d>
                              <m:dPr>
                                <m:ctrlPr>
                                  <a:rPr sz="1400" i="1">
                                    <a:latin typeface="Cambria Math" panose="02040503050406030204" pitchFamily="18" charset="0"/>
                                  </a:rPr>
                                </m:ctrlPr>
                              </m:dPr>
                              <m:e>
                                <m:r>
                                  <a:rPr sz="1400">
                                    <a:latin typeface="Cambria Math" panose="02040503050406030204" pitchFamily="18" charset="0"/>
                                  </a:rPr>
                                  <m:t>𝑡</m:t>
                                </m:r>
                              </m:e>
                            </m:d>
                          </m:sup>
                        </m:sSup>
                      </m:e>
                    </m:d>
                    <m:r>
                      <a:rPr sz="1400">
                        <a:latin typeface="Cambria Math" panose="02040503050406030204" pitchFamily="18" charset="0"/>
                      </a:rPr>
                      <m:t>=</m:t>
                    </m:r>
                    <m:r>
                      <a:rPr sz="1400">
                        <a:latin typeface="Cambria Math" panose="02040503050406030204" pitchFamily="18" charset="0"/>
                      </a:rPr>
                      <m:t>1</m:t>
                    </m:r>
                    <m:r>
                      <a:rPr sz="1400">
                        <a:latin typeface="Cambria Math" panose="02040503050406030204" pitchFamily="18" charset="0"/>
                      </a:rPr>
                      <m:t>/</m:t>
                    </m:r>
                    <m:sSup>
                      <m:sSupPr>
                        <m:ctrlPr>
                          <a:rPr sz="1400" i="1">
                            <a:latin typeface="Cambria Math" panose="02040503050406030204" pitchFamily="18" charset="0"/>
                          </a:rPr>
                        </m:ctrlPr>
                      </m:sSupPr>
                      <m:e>
                        <m:r>
                          <a:rPr sz="1400">
                            <a:latin typeface="Cambria Math" panose="02040503050406030204" pitchFamily="18" charset="0"/>
                          </a:rPr>
                          <m:t>𝜃</m:t>
                        </m:r>
                      </m:e>
                      <m:sup>
                        <m:d>
                          <m:dPr>
                            <m:ctrlPr>
                              <a:rPr sz="1400" i="1">
                                <a:latin typeface="Cambria Math" panose="02040503050406030204" pitchFamily="18" charset="0"/>
                              </a:rPr>
                            </m:ctrlPr>
                          </m:dPr>
                          <m:e>
                            <m:r>
                              <a:rPr sz="1400">
                                <a:latin typeface="Cambria Math" panose="02040503050406030204" pitchFamily="18" charset="0"/>
                              </a:rPr>
                              <m:t>𝑡</m:t>
                            </m:r>
                          </m:e>
                        </m:d>
                      </m:sup>
                    </m:sSup>
                  </m:oMath>
                </a14:m>
                <a:r>
                  <a:rPr sz="1400" dirty="0"/>
                  <a:t> . The maximizer of </a:t>
                </a:r>
                <a14:m>
                  <m:oMath xmlns:m="http://schemas.openxmlformats.org/officeDocument/2006/math">
                    <m:r>
                      <a:rPr sz="1400">
                        <a:latin typeface="Cambria Math" panose="02040503050406030204" pitchFamily="18" charset="0"/>
                      </a:rPr>
                      <m:t>𝑄</m:t>
                    </m:r>
                    <m:d>
                      <m:dPr>
                        <m:ctrlPr>
                          <a:rPr sz="1400" i="1">
                            <a:latin typeface="Cambria Math" panose="02040503050406030204" pitchFamily="18" charset="0"/>
                          </a:rPr>
                        </m:ctrlPr>
                      </m:dPr>
                      <m:e>
                        <m:r>
                          <a:rPr sz="1400">
                            <a:latin typeface="Cambria Math" panose="02040503050406030204" pitchFamily="18" charset="0"/>
                          </a:rPr>
                          <m:t>𝜃</m:t>
                        </m:r>
                        <m:r>
                          <a:rPr sz="1400">
                            <a:latin typeface="Cambria Math" panose="02040503050406030204" pitchFamily="18" charset="0"/>
                          </a:rPr>
                          <m:t>|</m:t>
                        </m:r>
                        <m:sSup>
                          <m:sSupPr>
                            <m:ctrlPr>
                              <a:rPr sz="1400" i="1">
                                <a:latin typeface="Cambria Math" panose="02040503050406030204" pitchFamily="18" charset="0"/>
                              </a:rPr>
                            </m:ctrlPr>
                          </m:sSupPr>
                          <m:e>
                            <m:r>
                              <a:rPr sz="1400">
                                <a:latin typeface="Cambria Math" panose="02040503050406030204" pitchFamily="18" charset="0"/>
                              </a:rPr>
                              <m:t>𝜃</m:t>
                            </m:r>
                          </m:e>
                          <m:sup>
                            <m:d>
                              <m:dPr>
                                <m:ctrlPr>
                                  <a:rPr sz="1400" i="1">
                                    <a:latin typeface="Cambria Math" panose="02040503050406030204" pitchFamily="18" charset="0"/>
                                  </a:rPr>
                                </m:ctrlPr>
                              </m:dPr>
                              <m:e>
                                <m:r>
                                  <a:rPr sz="1400">
                                    <a:latin typeface="Cambria Math" panose="02040503050406030204" pitchFamily="18" charset="0"/>
                                  </a:rPr>
                                  <m:t>𝑡</m:t>
                                </m:r>
                              </m:e>
                            </m:d>
                          </m:sup>
                        </m:sSup>
                      </m:e>
                    </m:d>
                  </m:oMath>
                </a14:m>
                <a:r>
                  <a:rPr sz="1400" dirty="0"/>
                  <a:t> with respect to </a:t>
                </a:r>
                <a14:m>
                  <m:oMath xmlns:m="http://schemas.openxmlformats.org/officeDocument/2006/math">
                    <m:r>
                      <a:rPr sz="1400">
                        <a:latin typeface="Cambria Math" panose="02040503050406030204" pitchFamily="18" charset="0"/>
                      </a:rPr>
                      <m:t>𝜃</m:t>
                    </m:r>
                  </m:oMath>
                </a14:m>
                <a:r>
                  <a:rPr sz="1400" dirty="0"/>
                  <a:t> is easily found to be the root of</a:t>
                </a:r>
              </a:p>
              <a:p>
                <a:pPr marL="0" lvl="0" indent="0">
                  <a:buNone/>
                </a:pPr>
                <a14:m>
                  <m:oMathPara xmlns:m="http://schemas.openxmlformats.org/officeDocument/2006/math">
                    <m:oMathParaPr>
                      <m:jc m:val="center"/>
                    </m:oMathParaPr>
                    <m:oMath xmlns:m="http://schemas.openxmlformats.org/officeDocument/2006/math">
                      <m:r>
                        <a:rPr sz="1400">
                          <a:latin typeface="Cambria Math" panose="02040503050406030204" pitchFamily="18" charset="0"/>
                        </a:rPr>
                        <m:t>2</m:t>
                      </m:r>
                      <m:r>
                        <a:rPr sz="1400">
                          <a:latin typeface="Cambria Math" panose="02040503050406030204" pitchFamily="18" charset="0"/>
                        </a:rPr>
                        <m:t>/</m:t>
                      </m:r>
                      <m:r>
                        <a:rPr sz="1400">
                          <a:latin typeface="Cambria Math" panose="02040503050406030204" pitchFamily="18" charset="0"/>
                        </a:rPr>
                        <m:t>𝜃</m:t>
                      </m:r>
                      <m:r>
                        <a:rPr sz="1400">
                          <a:latin typeface="Cambria Math" panose="02040503050406030204" pitchFamily="18" charset="0"/>
                        </a:rPr>
                        <m:t>−</m:t>
                      </m:r>
                      <m:r>
                        <a:rPr sz="1400">
                          <a:latin typeface="Cambria Math" panose="02040503050406030204" pitchFamily="18" charset="0"/>
                        </a:rPr>
                        <m:t>5</m:t>
                      </m:r>
                      <m:r>
                        <a:rPr sz="1400">
                          <a:latin typeface="Cambria Math" panose="02040503050406030204" pitchFamily="18" charset="0"/>
                        </a:rPr>
                        <m:t>−</m:t>
                      </m:r>
                      <m:r>
                        <a:rPr sz="1400">
                          <a:latin typeface="Cambria Math" panose="02040503050406030204" pitchFamily="18" charset="0"/>
                        </a:rPr>
                        <m:t>1</m:t>
                      </m:r>
                      <m:r>
                        <a:rPr sz="1400">
                          <a:latin typeface="Cambria Math" panose="02040503050406030204" pitchFamily="18" charset="0"/>
                        </a:rPr>
                        <m:t>/</m:t>
                      </m:r>
                      <m:sSup>
                        <m:sSupPr>
                          <m:ctrlPr>
                            <a:rPr sz="1400" i="1">
                              <a:latin typeface="Cambria Math" panose="02040503050406030204" pitchFamily="18" charset="0"/>
                            </a:rPr>
                          </m:ctrlPr>
                        </m:sSupPr>
                        <m:e>
                          <m:r>
                            <a:rPr sz="1400">
                              <a:latin typeface="Cambria Math" panose="02040503050406030204" pitchFamily="18" charset="0"/>
                            </a:rPr>
                            <m:t>𝜃</m:t>
                          </m:r>
                        </m:e>
                        <m:sup>
                          <m:d>
                            <m:dPr>
                              <m:ctrlPr>
                                <a:rPr sz="1400" i="1">
                                  <a:latin typeface="Cambria Math" panose="02040503050406030204" pitchFamily="18" charset="0"/>
                                </a:rPr>
                              </m:ctrlPr>
                            </m:dPr>
                            <m:e>
                              <m:r>
                                <a:rPr sz="1400">
                                  <a:latin typeface="Cambria Math" panose="02040503050406030204" pitchFamily="18" charset="0"/>
                                </a:rPr>
                                <m:t>𝑡</m:t>
                              </m:r>
                            </m:e>
                          </m:d>
                        </m:sup>
                      </m:sSup>
                      <m:r>
                        <a:rPr sz="1400">
                          <a:latin typeface="Cambria Math" panose="02040503050406030204" pitchFamily="18" charset="0"/>
                        </a:rPr>
                        <m:t>=</m:t>
                      </m:r>
                      <m:r>
                        <a:rPr sz="1400">
                          <a:latin typeface="Cambria Math" panose="02040503050406030204" pitchFamily="18" charset="0"/>
                        </a:rPr>
                        <m:t>0</m:t>
                      </m:r>
                      <m:r>
                        <a:rPr sz="1400">
                          <a:latin typeface="Cambria Math" panose="02040503050406030204" pitchFamily="18" charset="0"/>
                        </a:rPr>
                        <m:t>.</m:t>
                      </m:r>
                    </m:oMath>
                  </m:oMathPara>
                </a14:m>
                <a:endParaRPr sz="1400" dirty="0"/>
              </a:p>
              <a:p>
                <a:pPr marL="0" lvl="0" indent="0">
                  <a:buNone/>
                </a:pPr>
                <a:r>
                  <a:rPr sz="1400" dirty="0"/>
                  <a:t>Solving for </a:t>
                </a:r>
                <a14:m>
                  <m:oMath xmlns:m="http://schemas.openxmlformats.org/officeDocument/2006/math">
                    <m:r>
                      <a:rPr sz="1400">
                        <a:latin typeface="Cambria Math" panose="02040503050406030204" pitchFamily="18" charset="0"/>
                      </a:rPr>
                      <m:t>𝜃</m:t>
                    </m:r>
                  </m:oMath>
                </a14:m>
                <a:r>
                  <a:rPr sz="1400" dirty="0"/>
                  <a:t> provides the updating equation</a:t>
                </a:r>
              </a:p>
              <a:p>
                <a:pPr marL="0" lvl="0" indent="0">
                  <a:buNone/>
                </a:pPr>
                <a14:m>
                  <m:oMathPara xmlns:m="http://schemas.openxmlformats.org/officeDocument/2006/math">
                    <m:oMathParaPr>
                      <m:jc m:val="center"/>
                    </m:oMathParaPr>
                    <m:oMath xmlns:m="http://schemas.openxmlformats.org/officeDocument/2006/math">
                      <m:sSup>
                        <m:sSupPr>
                          <m:ctrlPr>
                            <a:rPr sz="1400">
                              <a:latin typeface="Cambria Math" panose="02040503050406030204" pitchFamily="18" charset="0"/>
                            </a:rPr>
                          </m:ctrlPr>
                        </m:sSupPr>
                        <m:e>
                          <m:r>
                            <a:rPr sz="1400">
                              <a:latin typeface="Cambria Math" panose="02040503050406030204" pitchFamily="18" charset="0"/>
                            </a:rPr>
                            <m:t>𝜃</m:t>
                          </m:r>
                        </m:e>
                        <m:sup>
                          <m:d>
                            <m:dPr>
                              <m:ctrlPr>
                                <a:rPr sz="1400" i="1">
                                  <a:latin typeface="Cambria Math" panose="02040503050406030204" pitchFamily="18" charset="0"/>
                                </a:rPr>
                              </m:ctrlPr>
                            </m:dPr>
                            <m:e>
                              <m:r>
                                <a:rPr sz="1400">
                                  <a:latin typeface="Cambria Math" panose="02040503050406030204" pitchFamily="18" charset="0"/>
                                </a:rPr>
                                <m:t>𝑡</m:t>
                              </m:r>
                              <m:r>
                                <a:rPr sz="1400">
                                  <a:latin typeface="Cambria Math" panose="02040503050406030204" pitchFamily="18" charset="0"/>
                                </a:rPr>
                                <m:t>+</m:t>
                              </m:r>
                              <m:r>
                                <a:rPr sz="1400">
                                  <a:latin typeface="Cambria Math" panose="02040503050406030204" pitchFamily="18" charset="0"/>
                                </a:rPr>
                                <m:t>1</m:t>
                              </m:r>
                            </m:e>
                          </m:d>
                        </m:sup>
                      </m:sSup>
                      <m:r>
                        <a:rPr sz="1400">
                          <a:latin typeface="Cambria Math" panose="02040503050406030204" pitchFamily="18" charset="0"/>
                        </a:rPr>
                        <m:t>=</m:t>
                      </m:r>
                      <m:r>
                        <a:rPr sz="1400">
                          <a:latin typeface="Cambria Math" panose="02040503050406030204" pitchFamily="18" charset="0"/>
                        </a:rPr>
                        <m:t>2</m:t>
                      </m:r>
                      <m:sSup>
                        <m:sSupPr>
                          <m:ctrlPr>
                            <a:rPr sz="1400" i="1">
                              <a:latin typeface="Cambria Math" panose="02040503050406030204" pitchFamily="18" charset="0"/>
                            </a:rPr>
                          </m:ctrlPr>
                        </m:sSupPr>
                        <m:e>
                          <m:r>
                            <a:rPr sz="1400">
                              <a:latin typeface="Cambria Math" panose="02040503050406030204" pitchFamily="18" charset="0"/>
                            </a:rPr>
                            <m:t>𝜃</m:t>
                          </m:r>
                        </m:e>
                        <m:sup>
                          <m:d>
                            <m:dPr>
                              <m:ctrlPr>
                                <a:rPr sz="1400" i="1">
                                  <a:latin typeface="Cambria Math" panose="02040503050406030204" pitchFamily="18" charset="0"/>
                                </a:rPr>
                              </m:ctrlPr>
                            </m:dPr>
                            <m:e>
                              <m:r>
                                <a:rPr sz="1400">
                                  <a:latin typeface="Cambria Math" panose="02040503050406030204" pitchFamily="18" charset="0"/>
                                </a:rPr>
                                <m:t>𝑡</m:t>
                              </m:r>
                            </m:e>
                          </m:d>
                        </m:sup>
                      </m:sSup>
                      <m:r>
                        <a:rPr sz="1400">
                          <a:latin typeface="Cambria Math" panose="02040503050406030204" pitchFamily="18" charset="0"/>
                        </a:rPr>
                        <m:t>/</m:t>
                      </m:r>
                      <m:d>
                        <m:dPr>
                          <m:ctrlPr>
                            <a:rPr sz="1400" i="1">
                              <a:latin typeface="Cambria Math" panose="02040503050406030204" pitchFamily="18" charset="0"/>
                            </a:rPr>
                          </m:ctrlPr>
                        </m:dPr>
                        <m:e>
                          <m:r>
                            <a:rPr sz="1400">
                              <a:latin typeface="Cambria Math" panose="02040503050406030204" pitchFamily="18" charset="0"/>
                            </a:rPr>
                            <m:t>5</m:t>
                          </m:r>
                          <m:sSup>
                            <m:sSupPr>
                              <m:ctrlPr>
                                <a:rPr sz="1400" i="1">
                                  <a:latin typeface="Cambria Math" panose="02040503050406030204" pitchFamily="18" charset="0"/>
                                </a:rPr>
                              </m:ctrlPr>
                            </m:sSupPr>
                            <m:e>
                              <m:r>
                                <a:rPr sz="1400">
                                  <a:latin typeface="Cambria Math" panose="02040503050406030204" pitchFamily="18" charset="0"/>
                                </a:rPr>
                                <m:t>𝜃</m:t>
                              </m:r>
                            </m:e>
                            <m:sup>
                              <m:d>
                                <m:dPr>
                                  <m:ctrlPr>
                                    <a:rPr sz="1400" i="1">
                                      <a:latin typeface="Cambria Math" panose="02040503050406030204" pitchFamily="18" charset="0"/>
                                    </a:rPr>
                                  </m:ctrlPr>
                                </m:dPr>
                                <m:e>
                                  <m:r>
                                    <a:rPr sz="1400">
                                      <a:latin typeface="Cambria Math" panose="02040503050406030204" pitchFamily="18" charset="0"/>
                                    </a:rPr>
                                    <m:t>𝑡</m:t>
                                  </m:r>
                                </m:e>
                              </m:d>
                            </m:sup>
                          </m:sSup>
                          <m:r>
                            <a:rPr sz="1400">
                              <a:latin typeface="Cambria Math" panose="02040503050406030204" pitchFamily="18" charset="0"/>
                            </a:rPr>
                            <m:t>+</m:t>
                          </m:r>
                          <m:r>
                            <a:rPr sz="1400">
                              <a:latin typeface="Cambria Math" panose="02040503050406030204" pitchFamily="18" charset="0"/>
                            </a:rPr>
                            <m:t>1</m:t>
                          </m:r>
                        </m:e>
                      </m:d>
                      <m:r>
                        <a:rPr sz="1400">
                          <a:latin typeface="Cambria Math" panose="02040503050406030204" pitchFamily="18" charset="0"/>
                        </a:rPr>
                        <m:t>.</m:t>
                      </m:r>
                    </m:oMath>
                  </m:oMathPara>
                </a14:m>
                <a:endParaRPr sz="14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85224" y="1117024"/>
                <a:ext cx="8610600" cy="3164030"/>
              </a:xfrm>
              <a:blipFill>
                <a:blip r:embed="rId2"/>
                <a:stretch>
                  <a:fillRect l="-212" t="-385" r="-142"/>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29773497-1408-4298-665A-CE3A069CF567}"/>
              </a:ext>
            </a:extLst>
          </p:cNvPr>
          <p:cNvSpPr/>
          <p:nvPr/>
        </p:nvSpPr>
        <p:spPr>
          <a:xfrm>
            <a:off x="288242" y="335878"/>
            <a:ext cx="96982" cy="4323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6E5B6BE-C84E-6F42-47F2-05298AEB1D2F}"/>
              </a:ext>
            </a:extLst>
          </p:cNvPr>
          <p:cNvPicPr>
            <a:picLocks noChangeAspect="1"/>
          </p:cNvPicPr>
          <p:nvPr/>
        </p:nvPicPr>
        <p:blipFill>
          <a:blip r:embed="rId2"/>
          <a:srcRect r="2" b="1030"/>
          <a:stretch/>
        </p:blipFill>
        <p:spPr>
          <a:xfrm>
            <a:off x="342901" y="720436"/>
            <a:ext cx="5434444" cy="4080164"/>
          </a:xfrm>
          <a:prstGeom prst="rect">
            <a:avLst/>
          </a:prstGeom>
        </p:spPr>
      </p:pic>
      <p:sp>
        <p:nvSpPr>
          <p:cNvPr id="8" name="Content Placeholder 2"/>
          <p:cNvSpPr>
            <a:spLocks noGrp="1"/>
          </p:cNvSpPr>
          <p:nvPr>
            <p:ph idx="1"/>
          </p:nvPr>
        </p:nvSpPr>
        <p:spPr>
          <a:xfrm>
            <a:off x="6871855" y="997527"/>
            <a:ext cx="2161308" cy="3597096"/>
          </a:xfrm>
          <a:solidFill>
            <a:schemeClr val="bg1"/>
          </a:solidFill>
          <a:scene3d>
            <a:camera prst="orthographicFront"/>
            <a:lightRig rig="threePt" dir="t"/>
          </a:scene3d>
          <a:sp3d>
            <a:bevelT w="152400" h="50800" prst="softRound"/>
          </a:sp3d>
        </p:spPr>
        <p:txBody>
          <a:bodyPr>
            <a:normAutofit/>
          </a:bodyPr>
          <a:lstStyle/>
          <a:p>
            <a:pPr marL="0" lvl="0" indent="0">
              <a:spcBef>
                <a:spcPts val="3000"/>
              </a:spcBef>
              <a:buNone/>
            </a:pPr>
            <a:endParaRPr lang="en-US" sz="1200" b="1" dirty="0"/>
          </a:p>
          <a:p>
            <a:pPr lvl="0" indent="0">
              <a:buNone/>
            </a:pPr>
            <a:r>
              <a:rPr lang="en-US" sz="1200" b="1" dirty="0">
                <a:latin typeface="Courier"/>
              </a:rPr>
              <a:t>## EM Algorithm</a:t>
            </a:r>
            <a:r>
              <a:rPr lang="en-US" sz="1200" dirty="0">
                <a:latin typeface="Courier"/>
              </a:rPr>
              <a:t>:</a:t>
            </a:r>
          </a:p>
          <a:p>
            <a:pPr lvl="0" indent="0">
              <a:buNone/>
            </a:pPr>
            <a:r>
              <a:rPr lang="en-US" sz="1200" dirty="0">
                <a:latin typeface="Courier"/>
              </a:rPr>
              <a:t>## Estimated theta: </a:t>
            </a:r>
            <a:r>
              <a:rPr lang="en-US" sz="1200" b="1" dirty="0">
                <a:latin typeface="Courier"/>
              </a:rPr>
              <a:t>0.2000012</a:t>
            </a:r>
          </a:p>
          <a:p>
            <a:pPr lvl="0" indent="0">
              <a:buNone/>
            </a:pPr>
            <a:r>
              <a:rPr lang="en-US" sz="1200" dirty="0">
                <a:latin typeface="Courier"/>
              </a:rPr>
              <a:t>## Number of iterations: </a:t>
            </a:r>
            <a:r>
              <a:rPr lang="en-US" sz="1200" b="1" dirty="0">
                <a:latin typeface="Courier"/>
              </a:rPr>
              <a:t>18</a:t>
            </a:r>
          </a:p>
          <a:p>
            <a:pPr lvl="0" indent="0">
              <a:buNone/>
            </a:pPr>
            <a:r>
              <a:rPr lang="en-US" sz="1200" dirty="0">
                <a:latin typeface="Courier"/>
              </a:rPr>
              <a:t>## Traditional </a:t>
            </a:r>
            <a:r>
              <a:rPr lang="en-US" sz="1200" b="1" dirty="0">
                <a:latin typeface="Courier"/>
              </a:rPr>
              <a:t>MLE</a:t>
            </a:r>
            <a:r>
              <a:rPr lang="en-US" sz="1200" dirty="0">
                <a:latin typeface="Courier"/>
              </a:rPr>
              <a:t>:</a:t>
            </a:r>
          </a:p>
          <a:p>
            <a:pPr lvl="0" indent="0">
              <a:buNone/>
            </a:pPr>
            <a:r>
              <a:rPr lang="en-US" sz="1200" dirty="0">
                <a:latin typeface="Courier"/>
              </a:rPr>
              <a:t>## Estimated theta: </a:t>
            </a:r>
            <a:r>
              <a:rPr lang="en-US" sz="1200" b="1" dirty="0">
                <a:latin typeface="Courier"/>
              </a:rPr>
              <a:t>0.2</a:t>
            </a:r>
          </a:p>
        </p:txBody>
      </p:sp>
      <p:sp>
        <p:nvSpPr>
          <p:cNvPr id="10" name="TextBox 9">
            <a:extLst>
              <a:ext uri="{FF2B5EF4-FFF2-40B4-BE49-F238E27FC236}">
                <a16:creationId xmlns:a16="http://schemas.microsoft.com/office/drawing/2014/main" id="{0338EA67-07C6-E78C-AFD3-9303D1FCDD16}"/>
              </a:ext>
            </a:extLst>
          </p:cNvPr>
          <p:cNvSpPr txBox="1"/>
          <p:nvPr/>
        </p:nvSpPr>
        <p:spPr>
          <a:xfrm>
            <a:off x="858982" y="286389"/>
            <a:ext cx="2729346" cy="369332"/>
          </a:xfrm>
          <a:prstGeom prst="rect">
            <a:avLst/>
          </a:prstGeom>
          <a:noFill/>
        </p:spPr>
        <p:txBody>
          <a:bodyPr wrap="square" rtlCol="0">
            <a:spAutoFit/>
          </a:bodyPr>
          <a:lstStyle/>
          <a:p>
            <a:pPr algn="ctr"/>
            <a:r>
              <a:rPr lang="en-US" b="1" dirty="0">
                <a:solidFill>
                  <a:srgbClr val="FF0000"/>
                </a:solidFill>
              </a:rPr>
              <a:t>R Code &lt;/&gt;</a:t>
            </a:r>
          </a:p>
        </p:txBody>
      </p:sp>
      <p:sp>
        <p:nvSpPr>
          <p:cNvPr id="12" name="TextBox 11">
            <a:extLst>
              <a:ext uri="{FF2B5EF4-FFF2-40B4-BE49-F238E27FC236}">
                <a16:creationId xmlns:a16="http://schemas.microsoft.com/office/drawing/2014/main" id="{94FEDF1F-E8AF-F1CB-1FAC-12308B29D145}"/>
              </a:ext>
            </a:extLst>
          </p:cNvPr>
          <p:cNvSpPr txBox="1"/>
          <p:nvPr/>
        </p:nvSpPr>
        <p:spPr>
          <a:xfrm>
            <a:off x="6466609" y="482831"/>
            <a:ext cx="2729346" cy="369332"/>
          </a:xfrm>
          <a:prstGeom prst="rect">
            <a:avLst/>
          </a:prstGeom>
          <a:noFill/>
        </p:spPr>
        <p:txBody>
          <a:bodyPr wrap="square" rtlCol="0">
            <a:spAutoFit/>
          </a:bodyPr>
          <a:lstStyle/>
          <a:p>
            <a:pPr algn="ctr"/>
            <a:r>
              <a:rPr lang="en-US" sz="1800" b="1" dirty="0">
                <a:solidFill>
                  <a:srgbClr val="FF0000"/>
                </a:solidFill>
              </a:rPr>
              <a:t>Results</a:t>
            </a:r>
            <a:endParaRPr lang="en-US" b="1" dirty="0">
              <a:solidFill>
                <a:srgbClr val="FF0000"/>
              </a:solidFill>
            </a:endParaRPr>
          </a:p>
        </p:txBody>
      </p:sp>
    </p:spTree>
    <p:extLst>
      <p:ext uri="{BB962C8B-B14F-4D97-AF65-F5344CB8AC3E}">
        <p14:creationId xmlns:p14="http://schemas.microsoft.com/office/powerpoint/2010/main" val="3456696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Freeform: Shape 30">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41754" cy="51435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2" name="Freeform: Shape 31">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34896" cy="51435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278320" y="870966"/>
            <a:ext cx="2578608" cy="929259"/>
          </a:xfrm>
        </p:spPr>
        <p:txBody>
          <a:bodyPr vert="horz" lIns="91440" tIns="45720" rIns="91440" bIns="45720" rtlCol="0" anchor="ctr">
            <a:normAutofit/>
          </a:bodyPr>
          <a:lstStyle/>
          <a:p>
            <a:pPr marL="0" lvl="0" indent="0" defTabSz="914400">
              <a:lnSpc>
                <a:spcPct val="90000"/>
              </a:lnSpc>
            </a:pPr>
            <a:r>
              <a:rPr lang="en-US" sz="2100" kern="1200">
                <a:solidFill>
                  <a:schemeClr val="tx1"/>
                </a:solidFill>
                <a:latin typeface="+mj-lt"/>
                <a:ea typeface="+mj-ea"/>
                <a:cs typeface="+mj-cs"/>
              </a:rPr>
              <a:t>Gaussian Mixed Model</a:t>
            </a:r>
          </a:p>
        </p:txBody>
      </p:sp>
      <p:sp>
        <p:nvSpPr>
          <p:cNvPr id="33" name="Rectangle 32">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69909"/>
            <a:ext cx="96012" cy="49042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4" name="Rectangle 33">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919" y="1832610"/>
            <a:ext cx="253746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p:cNvSpPr>
            <a:spLocks noGrp="1"/>
          </p:cNvSpPr>
          <p:nvPr>
            <p:ph type="body" sz="half" idx="2"/>
          </p:nvPr>
        </p:nvSpPr>
        <p:spPr>
          <a:xfrm>
            <a:off x="278320" y="2038540"/>
            <a:ext cx="2579180" cy="2405444"/>
          </a:xfrm>
        </p:spPr>
        <p:txBody>
          <a:bodyPr vert="horz" lIns="91440" tIns="45720" rIns="91440" bIns="45720" rtlCol="0" anchor="t">
            <a:normAutofit/>
          </a:bodyPr>
          <a:lstStyle/>
          <a:p>
            <a:pPr lvl="0" indent="-228600" defTabSz="914400">
              <a:lnSpc>
                <a:spcPct val="90000"/>
              </a:lnSpc>
              <a:buFont typeface="Arial" panose="020B0604020202020204" pitchFamily="34" charset="0"/>
              <a:buChar char="•"/>
            </a:pPr>
            <a:r>
              <a:rPr lang="en-US" sz="1300"/>
              <a:t>Sampling from Gaussian Mixed Model </a:t>
            </a:r>
          </a:p>
          <a:p>
            <a:pPr lvl="0" indent="-228600" defTabSz="914400">
              <a:lnSpc>
                <a:spcPct val="90000"/>
              </a:lnSpc>
              <a:buFont typeface="Arial" panose="020B0604020202020204" pitchFamily="34" charset="0"/>
              <a:buChar char="•"/>
            </a:pPr>
            <a:r>
              <a:rPr lang="en-US" sz="1300"/>
              <a:t>N1(µ1 = 2, sd = 0.6)and </a:t>
            </a:r>
          </a:p>
          <a:p>
            <a:pPr lvl="0" indent="-228600" defTabSz="914400">
              <a:lnSpc>
                <a:spcPct val="90000"/>
              </a:lnSpc>
              <a:buFont typeface="Arial" panose="020B0604020202020204" pitchFamily="34" charset="0"/>
              <a:buChar char="•"/>
            </a:pPr>
            <a:r>
              <a:rPr lang="en-US" sz="1300"/>
              <a:t>N2 (µ2 =6, sd= 0.4) </a:t>
            </a:r>
          </a:p>
          <a:p>
            <a:pPr lvl="0" indent="-228600" defTabSz="914400">
              <a:lnSpc>
                <a:spcPct val="90000"/>
              </a:lnSpc>
              <a:buFont typeface="Arial" panose="020B0604020202020204" pitchFamily="34" charset="0"/>
              <a:buChar char="•"/>
            </a:pPr>
            <a:r>
              <a:rPr lang="en-US" sz="1300"/>
              <a:t>n = 10,000</a:t>
            </a:r>
          </a:p>
        </p:txBody>
      </p:sp>
      <p:pic>
        <p:nvPicPr>
          <p:cNvPr id="5" name="Picture 1" descr="ppy_files/figure-pptx/unnamed-chunk-4-1.png"/>
          <p:cNvPicPr>
            <a:picLocks noGrp="1" noChangeAspect="1"/>
          </p:cNvPicPr>
          <p:nvPr/>
        </p:nvPicPr>
        <p:blipFill>
          <a:blip r:embed="rId2"/>
          <a:stretch>
            <a:fillRect/>
          </a:stretch>
        </p:blipFill>
        <p:spPr bwMode="auto">
          <a:xfrm>
            <a:off x="3798475" y="630936"/>
            <a:ext cx="4946331" cy="3957066"/>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4905665" y="955964"/>
            <a:ext cx="3595975" cy="1496291"/>
          </a:xfrm>
        </p:spPr>
        <p:txBody>
          <a:bodyPr/>
          <a:lstStyle/>
          <a:p>
            <a:pPr marL="0" lvl="0" indent="0">
              <a:buNone/>
            </a:pPr>
            <a:endParaRPr dirty="0"/>
          </a:p>
          <a:p>
            <a:pPr lvl="0" indent="0">
              <a:buNone/>
            </a:pPr>
            <a:r>
              <a:rPr dirty="0">
                <a:latin typeface="Courier"/>
              </a:rPr>
              <a:t>## </a:t>
            </a:r>
            <a:r>
              <a:rPr b="1" dirty="0">
                <a:latin typeface="Courier"/>
              </a:rPr>
              <a:t>Converged in 84 iterations</a:t>
            </a:r>
          </a:p>
          <a:p>
            <a:pPr lvl="0" indent="0">
              <a:buNone/>
            </a:pPr>
            <a:r>
              <a:rPr dirty="0">
                <a:latin typeface="Courier"/>
              </a:rPr>
              <a:t>## Final Estimates:</a:t>
            </a:r>
          </a:p>
          <a:p>
            <a:pPr lvl="0" indent="0">
              <a:buNone/>
            </a:pPr>
            <a:r>
              <a:rPr dirty="0">
                <a:latin typeface="Courier"/>
              </a:rPr>
              <a:t>## Mixing Proportions: </a:t>
            </a:r>
            <a:r>
              <a:rPr b="1" dirty="0">
                <a:latin typeface="Courier"/>
              </a:rPr>
              <a:t>0.605 0.395</a:t>
            </a:r>
          </a:p>
          <a:p>
            <a:pPr lvl="0" indent="0">
              <a:buNone/>
            </a:pPr>
            <a:r>
              <a:rPr dirty="0">
                <a:latin typeface="Courier"/>
              </a:rPr>
              <a:t>## Means: </a:t>
            </a:r>
            <a:r>
              <a:rPr b="1" dirty="0">
                <a:latin typeface="Courier"/>
              </a:rPr>
              <a:t>1.996 6.026</a:t>
            </a:r>
          </a:p>
          <a:p>
            <a:pPr lvl="0" indent="0">
              <a:buNone/>
            </a:pPr>
            <a:r>
              <a:rPr dirty="0">
                <a:latin typeface="Courier"/>
              </a:rPr>
              <a:t>## Standard Deviations: </a:t>
            </a:r>
            <a:r>
              <a:rPr b="1" dirty="0">
                <a:latin typeface="Courier"/>
              </a:rPr>
              <a:t>0.997 1.511</a:t>
            </a:r>
          </a:p>
        </p:txBody>
      </p:sp>
      <p:pic>
        <p:nvPicPr>
          <p:cNvPr id="2" name="Picture 1" descr="ppy_files/figure-pptx/unnamed-chunk-6-1.png"/>
          <p:cNvPicPr>
            <a:picLocks noGrp="1" noChangeAspect="1"/>
          </p:cNvPicPr>
          <p:nvPr/>
        </p:nvPicPr>
        <p:blipFill>
          <a:blip r:embed="rId2"/>
          <a:stretch>
            <a:fillRect/>
          </a:stretch>
        </p:blipFill>
        <p:spPr bwMode="auto">
          <a:xfrm>
            <a:off x="4517303" y="2318328"/>
            <a:ext cx="4046682" cy="2975532"/>
          </a:xfrm>
          <a:prstGeom prst="rect">
            <a:avLst/>
          </a:prstGeom>
          <a:noFill/>
          <a:ln w="9525">
            <a:noFill/>
            <a:headEnd/>
            <a:tailEnd/>
          </a:ln>
        </p:spPr>
      </p:pic>
      <p:pic>
        <p:nvPicPr>
          <p:cNvPr id="6" name="Picture 5" descr="A screenshot of a computer program&#10;&#10;Description automatically generated">
            <a:extLst>
              <a:ext uri="{FF2B5EF4-FFF2-40B4-BE49-F238E27FC236}">
                <a16:creationId xmlns:a16="http://schemas.microsoft.com/office/drawing/2014/main" id="{4031CE9F-764F-42CC-0D78-438EB50E391E}"/>
              </a:ext>
            </a:extLst>
          </p:cNvPr>
          <p:cNvPicPr>
            <a:picLocks noChangeAspect="1"/>
          </p:cNvPicPr>
          <p:nvPr/>
        </p:nvPicPr>
        <p:blipFill>
          <a:blip r:embed="rId3"/>
          <a:stretch>
            <a:fillRect/>
          </a:stretch>
        </p:blipFill>
        <p:spPr>
          <a:xfrm>
            <a:off x="169271" y="725215"/>
            <a:ext cx="4046682" cy="4233040"/>
          </a:xfrm>
          <a:prstGeom prst="rect">
            <a:avLst/>
          </a:prstGeom>
        </p:spPr>
      </p:pic>
      <p:sp>
        <p:nvSpPr>
          <p:cNvPr id="7" name="TextBox 6">
            <a:extLst>
              <a:ext uri="{FF2B5EF4-FFF2-40B4-BE49-F238E27FC236}">
                <a16:creationId xmlns:a16="http://schemas.microsoft.com/office/drawing/2014/main" id="{B6EA91E8-09A0-4C2F-64E2-0E1E620E8ABC}"/>
              </a:ext>
            </a:extLst>
          </p:cNvPr>
          <p:cNvSpPr txBox="1"/>
          <p:nvPr/>
        </p:nvSpPr>
        <p:spPr>
          <a:xfrm>
            <a:off x="858982" y="286389"/>
            <a:ext cx="2729346" cy="369332"/>
          </a:xfrm>
          <a:prstGeom prst="rect">
            <a:avLst/>
          </a:prstGeom>
          <a:noFill/>
        </p:spPr>
        <p:txBody>
          <a:bodyPr wrap="square" rtlCol="0">
            <a:spAutoFit/>
          </a:bodyPr>
          <a:lstStyle/>
          <a:p>
            <a:pPr algn="ctr"/>
            <a:r>
              <a:rPr lang="en-US" b="1" dirty="0">
                <a:solidFill>
                  <a:srgbClr val="FF0000"/>
                </a:solidFill>
              </a:rPr>
              <a:t>R Code &lt;/&gt;</a:t>
            </a:r>
          </a:p>
        </p:txBody>
      </p:sp>
      <p:sp>
        <p:nvSpPr>
          <p:cNvPr id="8" name="TextBox 7">
            <a:extLst>
              <a:ext uri="{FF2B5EF4-FFF2-40B4-BE49-F238E27FC236}">
                <a16:creationId xmlns:a16="http://schemas.microsoft.com/office/drawing/2014/main" id="{A92F9151-3E83-CE14-5BAF-5AAA350C14A2}"/>
              </a:ext>
            </a:extLst>
          </p:cNvPr>
          <p:cNvSpPr txBox="1"/>
          <p:nvPr/>
        </p:nvSpPr>
        <p:spPr>
          <a:xfrm>
            <a:off x="4905665" y="471055"/>
            <a:ext cx="2729346" cy="369332"/>
          </a:xfrm>
          <a:prstGeom prst="rect">
            <a:avLst/>
          </a:prstGeom>
          <a:noFill/>
        </p:spPr>
        <p:txBody>
          <a:bodyPr wrap="square" rtlCol="0">
            <a:spAutoFit/>
          </a:bodyPr>
          <a:lstStyle/>
          <a:p>
            <a:pPr algn="ctr"/>
            <a:r>
              <a:rPr lang="en-US" sz="1800" b="1" dirty="0">
                <a:solidFill>
                  <a:srgbClr val="FF0000"/>
                </a:solidFill>
              </a:rPr>
              <a:t>Results</a:t>
            </a:r>
            <a:endParaRPr lang="en-US" b="1" dirty="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B0869-4F04-575D-542C-BD71636269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DA8EFD-311B-B031-765D-5A62E37DB449}"/>
              </a:ext>
            </a:extLst>
          </p:cNvPr>
          <p:cNvSpPr>
            <a:spLocks noGrp="1"/>
          </p:cNvSpPr>
          <p:nvPr>
            <p:ph type="title"/>
          </p:nvPr>
        </p:nvSpPr>
        <p:spPr>
          <a:xfrm>
            <a:off x="457200" y="0"/>
            <a:ext cx="8229600" cy="548878"/>
          </a:xfrm>
        </p:spPr>
        <p:txBody>
          <a:bodyPr>
            <a:normAutofit/>
          </a:bodyPr>
          <a:lstStyle/>
          <a:p>
            <a:pPr marL="0" lvl="0" indent="0">
              <a:buNone/>
            </a:pPr>
            <a:r>
              <a:rPr sz="2000" b="1" dirty="0"/>
              <a:t>Variance Covariance Estimation</a:t>
            </a:r>
          </a:p>
        </p:txBody>
      </p:sp>
      <p:sp>
        <p:nvSpPr>
          <p:cNvPr id="4" name="TextBox 3">
            <a:extLst>
              <a:ext uri="{FF2B5EF4-FFF2-40B4-BE49-F238E27FC236}">
                <a16:creationId xmlns:a16="http://schemas.microsoft.com/office/drawing/2014/main" id="{E8593CF5-070E-DDBA-E550-7E7AE7EF77EB}"/>
              </a:ext>
            </a:extLst>
          </p:cNvPr>
          <p:cNvSpPr txBox="1"/>
          <p:nvPr/>
        </p:nvSpPr>
        <p:spPr>
          <a:xfrm>
            <a:off x="325582" y="548878"/>
            <a:ext cx="8167254" cy="738664"/>
          </a:xfrm>
          <a:prstGeom prst="rect">
            <a:avLst/>
          </a:prstGeom>
          <a:noFill/>
        </p:spPr>
        <p:txBody>
          <a:bodyPr wrap="square" rtlCol="0">
            <a:spAutoFit/>
          </a:bodyPr>
          <a:lstStyle/>
          <a:p>
            <a:pPr algn="just"/>
            <a:r>
              <a:rPr lang="en-US" sz="1400" dirty="0"/>
              <a:t>The E-M Algorithm can be used to find the maximum likelihood estimator (MLE) but it does not directly estimate the variance-covariance matrix of the MLEs. The E-M algorithm relies heavily on asymptotic normality of the MLEs to estimate the variance covariance matrix.  </a:t>
            </a:r>
          </a:p>
        </p:txBody>
      </p:sp>
      <p:sp>
        <p:nvSpPr>
          <p:cNvPr id="7" name="TextBox 6">
            <a:extLst>
              <a:ext uri="{FF2B5EF4-FFF2-40B4-BE49-F238E27FC236}">
                <a16:creationId xmlns:a16="http://schemas.microsoft.com/office/drawing/2014/main" id="{CB084E8B-4717-2B43-223A-8EADAD2D957F}"/>
              </a:ext>
            </a:extLst>
          </p:cNvPr>
          <p:cNvSpPr txBox="1"/>
          <p:nvPr/>
        </p:nvSpPr>
        <p:spPr>
          <a:xfrm>
            <a:off x="831272" y="1488433"/>
            <a:ext cx="7155873" cy="1077218"/>
          </a:xfrm>
          <a:prstGeom prst="rect">
            <a:avLst/>
          </a:prstGeom>
          <a:noFill/>
        </p:spPr>
        <p:txBody>
          <a:bodyPr wrap="square" rtlCol="0">
            <a:spAutoFit/>
          </a:bodyPr>
          <a:lstStyle/>
          <a:p>
            <a:r>
              <a:rPr lang="en-US" sz="1600" b="1" dirty="0"/>
              <a:t>Some Commonly Known Methods include</a:t>
            </a:r>
          </a:p>
          <a:p>
            <a:pPr marL="342900" indent="-342900">
              <a:buAutoNum type="arabicPeriod"/>
            </a:pPr>
            <a:r>
              <a:rPr lang="en-US" sz="1600" dirty="0"/>
              <a:t>The Hessian method –That is considered in this presentation</a:t>
            </a:r>
          </a:p>
          <a:p>
            <a:pPr marL="342900" indent="-342900">
              <a:buAutoNum type="arabicPeriod"/>
            </a:pPr>
            <a:r>
              <a:rPr lang="en-US" sz="1600" dirty="0"/>
              <a:t>The Louis Method </a:t>
            </a:r>
          </a:p>
          <a:p>
            <a:pPr marL="342900" indent="-342900">
              <a:buAutoNum type="arabicPeriod"/>
            </a:pPr>
            <a:r>
              <a:rPr lang="en-US" sz="1600" dirty="0"/>
              <a:t>Bootstrap method and many other “fancy ” methods</a:t>
            </a:r>
          </a:p>
        </p:txBody>
      </p:sp>
    </p:spTree>
    <p:extLst>
      <p:ext uri="{BB962C8B-B14F-4D97-AF65-F5344CB8AC3E}">
        <p14:creationId xmlns:p14="http://schemas.microsoft.com/office/powerpoint/2010/main" val="1015127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48878"/>
          </a:xfrm>
        </p:spPr>
        <p:txBody>
          <a:bodyPr>
            <a:normAutofit/>
          </a:bodyPr>
          <a:lstStyle/>
          <a:p>
            <a:pPr marL="0" lvl="0" indent="0">
              <a:buNone/>
            </a:pPr>
            <a:r>
              <a:rPr sz="2000" dirty="0"/>
              <a:t>Variance Covariance Estimation</a:t>
            </a:r>
          </a:p>
        </p:txBody>
      </p:sp>
      <p:sp>
        <p:nvSpPr>
          <p:cNvPr id="3" name="Content Placeholder 2"/>
          <p:cNvSpPr>
            <a:spLocks noGrp="1"/>
          </p:cNvSpPr>
          <p:nvPr>
            <p:ph idx="1"/>
          </p:nvPr>
        </p:nvSpPr>
        <p:spPr>
          <a:xfrm>
            <a:off x="4290437" y="1156763"/>
            <a:ext cx="4396363" cy="3146823"/>
          </a:xfrm>
        </p:spPr>
        <p:txBody>
          <a:bodyPr>
            <a:normAutofit/>
          </a:bodyPr>
          <a:lstStyle/>
          <a:p>
            <a:pPr marL="0" lvl="0" indent="0">
              <a:spcBef>
                <a:spcPts val="3000"/>
              </a:spcBef>
              <a:buNone/>
            </a:pPr>
            <a:r>
              <a:rPr sz="1000" b="1" dirty="0"/>
              <a:t>The Hessian Approach</a:t>
            </a:r>
          </a:p>
          <a:p>
            <a:pPr lvl="0" indent="0">
              <a:buNone/>
            </a:pPr>
            <a:r>
              <a:rPr sz="600" dirty="0">
                <a:latin typeface="Courier"/>
              </a:rPr>
              <a:t>## 
## Variance-Covariance Matrix (Hessian):</a:t>
            </a:r>
          </a:p>
          <a:p>
            <a:pPr lvl="0" indent="0">
              <a:buNone/>
            </a:pPr>
            <a:r>
              <a:rPr sz="600" dirty="0">
                <a:latin typeface="Courier"/>
              </a:rPr>
              <a:t>##               [,1]          [,2]          [,3]          [,4]          [,5]
## [1,]  9.549597e-05 -3.502555e-05  8.537454e-05  0.0002264402  5.620862e-05
## [2,] -3.502555e-05  7.455514e-05 -8.537518e-05 -0.0002264419 -5.620904e-05
## [3,]  8.537454e-05 -8.537518e-05  3.828770e-04  0.0005362058  1.508683e-04
## [4,]  2.264402e-04 -2.264419e-04  5.362058e-04  0.0020658919  3.421879e-04
## [5,]  5.620862e-05 -5.620904e-05  1.508683e-04  0.0003421879  1.938029e-04
## [6,] -1.466964e-04  1.466975e-04 -3.295882e-04 -0.0009912181 -2.004480e-04
##               [,6]
## [1,] -0.0001466964
## [2,]  0.0001466975
## [3,] -0.0003295882
## [4,] -0.0009912181
## [5,] -0.0002004480
## [6,]  0.0009821870</a:t>
            </a:r>
          </a:p>
        </p:txBody>
      </p:sp>
      <p:pic>
        <p:nvPicPr>
          <p:cNvPr id="8" name="Picture 7" descr="A screenshot of a computer&#10;&#10;Description automatically generated">
            <a:extLst>
              <a:ext uri="{FF2B5EF4-FFF2-40B4-BE49-F238E27FC236}">
                <a16:creationId xmlns:a16="http://schemas.microsoft.com/office/drawing/2014/main" id="{E19FBC33-35CB-D807-5DD4-A12A5FFB490F}"/>
              </a:ext>
            </a:extLst>
          </p:cNvPr>
          <p:cNvPicPr>
            <a:picLocks noChangeAspect="1"/>
          </p:cNvPicPr>
          <p:nvPr/>
        </p:nvPicPr>
        <p:blipFill>
          <a:blip r:embed="rId2"/>
          <a:srcRect l="11034" t="22690" r="63707" b="50000"/>
          <a:stretch/>
        </p:blipFill>
        <p:spPr>
          <a:xfrm>
            <a:off x="290945" y="1156763"/>
            <a:ext cx="3747655" cy="2986629"/>
          </a:xfrm>
          <a:prstGeom prst="rect">
            <a:avLst/>
          </a:prstGeom>
          <a:scene3d>
            <a:camera prst="orthographicFront"/>
            <a:lightRig rig="threePt" dir="t"/>
          </a:scene3d>
          <a:sp3d>
            <a:bevelT w="152400" h="50800" prst="softRound"/>
          </a:sp3d>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Example 3: Old Faithful Dataset</a:t>
            </a:r>
          </a:p>
        </p:txBody>
      </p:sp>
      <p:sp>
        <p:nvSpPr>
          <p:cNvPr id="4" name="Text Placeholder 3"/>
          <p:cNvSpPr>
            <a:spLocks noGrp="1"/>
          </p:cNvSpPr>
          <p:nvPr>
            <p:ph type="body" sz="half" idx="2"/>
          </p:nvPr>
        </p:nvSpPr>
        <p:spPr/>
        <p:txBody>
          <a:bodyPr/>
          <a:lstStyle/>
          <a:p>
            <a:pPr marL="0" lvl="0" indent="0">
              <a:buNone/>
            </a:pPr>
            <a:r>
              <a:t>This is a dataset that contains 272 observations of eruptions from the Old Faithful geyser in Yellowstone National Park, USA. The dataset consists of two key variables:</a:t>
            </a:r>
          </a:p>
          <a:p>
            <a:pPr marL="342900" lvl="0" indent="-342900">
              <a:buAutoNum type="arabicPeriod"/>
            </a:pPr>
            <a:r>
              <a:t>Eruption Duration: The duration (in minutes) of each geyser eruption.</a:t>
            </a:r>
          </a:p>
          <a:p>
            <a:pPr marL="342900" lvl="0" indent="-342900">
              <a:buAutoNum type="arabicPeriod"/>
            </a:pPr>
            <a:r>
              <a:t>Waiting Time: The waiting time (in minutes) between successive eruptions.</a:t>
            </a:r>
          </a:p>
          <a:p>
            <a:pPr marL="0" lvl="0" indent="0">
              <a:buNone/>
            </a:pPr>
            <a:r>
              <a:t>In this case we are interested in X =waiting time</a:t>
            </a:r>
          </a:p>
          <a:p>
            <a:pPr marL="0" lvl="0" indent="0">
              <a:buNone/>
            </a:pPr>
            <a14:m xmlns:a14="http://schemas.microsoft.com/office/drawing/2010/main">
              <m:oMath xmlns:m="http://schemas.openxmlformats.org/officeDocument/2006/math">
                <m:r>
                  <a:rPr>
                    <a:latin typeface="Cambria Math" panose="02040503050406030204" pitchFamily="18" charset="0"/>
                  </a:rPr>
                  <m:t>𝑋</m:t>
                </m:r>
              </m:oMath>
            </a14:m>
            <a:r>
              <a:t>: Waiting time</a:t>
            </a:r>
          </a:p>
          <a:p>
            <a:pPr marL="0" lvl="0" indent="0">
              <a:buNone/>
            </a:pPr>
            <a14:m xmlns:a14="http://schemas.microsoft.com/office/drawing/2010/main">
              <m:oMath xmlns:m="http://schemas.openxmlformats.org/officeDocument/2006/math">
                <m:r>
                  <a:rPr>
                    <a:latin typeface="Cambria Math" panose="02040503050406030204" pitchFamily="18" charset="0"/>
                  </a:rPr>
                  <m:t>𝑝</m:t>
                </m:r>
              </m:oMath>
            </a14:m>
            <a:r>
              <a:t>: Probability of shorter waiting time</a:t>
            </a:r>
          </a:p>
          <a:p>
            <a:pPr marL="0" lvl="0" indent="0">
              <a:buNone/>
            </a:pPr>
            <a14:m xmlns:a14="http://schemas.microsoft.com/office/drawing/2010/main">
              <m:oMathPara xmlns:m="http://schemas.openxmlformats.org/officeDocument/2006/math">
                <m:oMathParaPr>
                  <m:jc m:val="centerGroup"/>
                </m:oMathParaPr>
                <m:oMath xmlns:m="http://schemas.openxmlformats.org/officeDocument/2006/math">
                  <m:r>
                    <a:rPr>
                      <a:latin typeface="Cambria Math" panose="02040503050406030204" pitchFamily="18" charset="0"/>
                    </a:rPr>
                    <m:t>𝜃</m:t>
                  </m:r>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𝑝</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2</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𝜎</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𝜎</m:t>
                          </m:r>
                        </m:e>
                        <m:sub>
                          <m:r>
                            <a:rPr>
                              <a:latin typeface="Cambria Math" panose="02040503050406030204" pitchFamily="18" charset="0"/>
                            </a:rPr>
                            <m:t>2</m:t>
                          </m:r>
                        </m:sub>
                      </m:sSub>
                    </m:e>
                  </m:d>
                </m:oMath>
              </m:oMathPara>
            </a14:m>
            <a:endParaRPr/>
          </a:p>
          <a:p>
            <a:pPr marL="0" lvl="0" indent="0">
              <a:buNone/>
            </a:pPr>
            <a14:m xmlns:a14="http://schemas.microsoft.com/office/drawing/2010/main">
              <m:oMathPara xmlns:m="http://schemas.openxmlformats.org/officeDocument/2006/math">
                <m:oMathParaPr>
                  <m:jc m:val="centerGroup"/>
                </m:oMathParaPr>
                <m:oMath xmlns:m="http://schemas.openxmlformats.org/officeDocument/2006/math">
                  <m:r>
                    <a:rPr>
                      <a:latin typeface="Cambria Math" panose="02040503050406030204" pitchFamily="18" charset="0"/>
                    </a:rPr>
                    <m:t>𝑓</m:t>
                  </m:r>
                  <m:d>
                    <m:dPr>
                      <m:ctrlPr>
                        <a:rPr i="1">
                          <a:latin typeface="Cambria Math" panose="02040503050406030204" pitchFamily="18" charset="0"/>
                        </a:rPr>
                      </m:ctrlPr>
                    </m:dPr>
                    <m:e>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𝜃</m:t>
                      </m:r>
                    </m:e>
                  </m:d>
                  <m:r>
                    <a:rPr>
                      <a:latin typeface="Cambria Math" panose="02040503050406030204" pitchFamily="18" charset="0"/>
                    </a:rPr>
                    <m:t>=</m:t>
                  </m:r>
                  <m:r>
                    <a:rPr>
                      <a:latin typeface="Cambria Math" panose="02040503050406030204" pitchFamily="18" charset="0"/>
                    </a:rPr>
                    <m:t>𝑝</m:t>
                  </m:r>
                  <m:r>
                    <a:rPr>
                      <a:latin typeface="Cambria Math" panose="02040503050406030204" pitchFamily="18" charset="0"/>
                    </a:rPr>
                    <m:t>𝒩</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𝜎</m:t>
                          </m:r>
                        </m:e>
                        <m:sub>
                          <m:r>
                            <a:rPr>
                              <a:latin typeface="Cambria Math" panose="02040503050406030204" pitchFamily="18" charset="0"/>
                            </a:rPr>
                            <m:t>1</m:t>
                          </m:r>
                        </m:sub>
                      </m:sSub>
                    </m:e>
                  </m:d>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𝑝</m:t>
                      </m:r>
                    </m:e>
                  </m:d>
                  <m:r>
                    <a:rPr>
                      <a:latin typeface="Cambria Math" panose="02040503050406030204" pitchFamily="18" charset="0"/>
                    </a:rPr>
                    <m:t>𝒩</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2</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𝜎</m:t>
                          </m:r>
                        </m:e>
                        <m:sub>
                          <m:r>
                            <a:rPr>
                              <a:latin typeface="Cambria Math" panose="02040503050406030204" pitchFamily="18" charset="0"/>
                            </a:rPr>
                            <m:t>2</m:t>
                          </m:r>
                        </m:sub>
                      </m:sSub>
                    </m:e>
                  </m:d>
                </m:oMath>
              </m:oMathPara>
            </a14:m>
            <a:endParaRPr/>
          </a:p>
          <a:p>
            <a:pPr marL="0" lvl="0" indent="0">
              <a:buNone/>
            </a:pP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𝑌</m:t>
                    </m:r>
                  </m:e>
                  <m:sub>
                    <m:r>
                      <a:rPr>
                        <a:latin typeface="Cambria Math" panose="02040503050406030204" pitchFamily="18" charset="0"/>
                      </a:rPr>
                      <m:t>𝑖</m:t>
                    </m:r>
                  </m:sub>
                </m:sSub>
                <m:r>
                  <a:rPr>
                    <a:latin typeface="Cambria Math" panose="02040503050406030204" pitchFamily="18" charset="0"/>
                  </a:rPr>
                  <m:t>=</m:t>
                </m:r>
                <m:d>
                  <m:dPr>
                    <m:begChr m:val="{"/>
                    <m:endChr m:val=""/>
                    <m:ctrlPr>
                      <a:rPr i="1">
                        <a:latin typeface="Cambria Math" panose="02040503050406030204" pitchFamily="18" charset="0"/>
                      </a:rPr>
                    </m:ctrlPr>
                  </m:dPr>
                  <m:e>
                    <m:m>
                      <m:mPr>
                        <m:plcHide m:val="on"/>
                        <m:mcs>
                          <m:mc>
                            <m:mcPr>
                              <m:count m:val="2"/>
                              <m:mcJc m:val="center"/>
                            </m:mcPr>
                          </m:mc>
                        </m:mcs>
                        <m:ctrlPr>
                          <a:rPr i="1">
                            <a:latin typeface="Cambria Math" panose="02040503050406030204" pitchFamily="18" charset="0"/>
                          </a:rPr>
                        </m:ctrlPr>
                      </m:mPr>
                      <m:mr>
                        <m:e>
                          <m:r>
                            <a:rPr>
                              <a:latin typeface="Cambria Math" panose="02040503050406030204" pitchFamily="18" charset="0"/>
                            </a:rPr>
                            <m:t>1</m:t>
                          </m:r>
                        </m:e>
                        <m:e>
                          <m:r>
                            <m:rPr>
                              <m:nor/>
                            </m:rPr>
                            <a:rPr/>
                            <m:t>if</m:t>
                          </m:r>
                          <m:r>
                            <m:rPr>
                              <m:nor/>
                            </m:rPr>
                            <a:rPr/>
                            <m:t> </m:t>
                          </m:r>
                          <m:r>
                            <m:rPr>
                              <m:nor/>
                            </m:rPr>
                            <a:rPr/>
                            <m:t>shorter</m:t>
                          </m:r>
                          <m:r>
                            <m:rPr>
                              <m:nor/>
                            </m:rPr>
                            <a:rPr/>
                            <m:t> </m:t>
                          </m:r>
                          <m:r>
                            <m:rPr>
                              <m:nor/>
                            </m:rPr>
                            <a:rPr/>
                            <m:t>waiting</m:t>
                          </m:r>
                          <m:r>
                            <m:rPr>
                              <m:nor/>
                            </m:rPr>
                            <a:rPr/>
                            <m:t> </m:t>
                          </m:r>
                          <m:r>
                            <m:rPr>
                              <m:nor/>
                            </m:rPr>
                            <a:rPr/>
                            <m:t>time</m:t>
                          </m:r>
                          <m:r>
                            <m:rPr>
                              <m:nor/>
                            </m:rPr>
                            <a:rPr/>
                            <m:t>,</m:t>
                          </m:r>
                        </m:e>
                      </m:mr>
                      <m:mr>
                        <m:e>
                          <m:r>
                            <a:rPr>
                              <a:latin typeface="Cambria Math" panose="02040503050406030204" pitchFamily="18" charset="0"/>
                            </a:rPr>
                            <m:t>0</m:t>
                          </m:r>
                        </m:e>
                        <m:e>
                          <m:r>
                            <m:rPr>
                              <m:nor/>
                            </m:rPr>
                            <a:rPr/>
                            <m:t>otherwise</m:t>
                          </m:r>
                        </m:e>
                      </m:mr>
                    </m:m>
                  </m:e>
                </m:d>
              </m:oMath>
            </a14:m>
            <a:r>
              <a:t>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𝑌</m:t>
                    </m:r>
                  </m:e>
                  <m:sub>
                    <m:r>
                      <a:rPr>
                        <a:latin typeface="Cambria Math" panose="02040503050406030204" pitchFamily="18" charset="0"/>
                      </a:rPr>
                      <m:t>𝑖</m:t>
                    </m:r>
                  </m:sub>
                </m:sSub>
                <m:r>
                  <a:rPr>
                    <a:latin typeface="Cambria Math" panose="02040503050406030204" pitchFamily="18" charset="0"/>
                  </a:rPr>
                  <m:t>∼</m:t>
                </m:r>
                <m:r>
                  <m:rPr>
                    <m:nor/>
                  </m:rPr>
                  <a:rPr/>
                  <m:t>Bernoulli</m:t>
                </m:r>
                <m:d>
                  <m:dPr>
                    <m:ctrlPr>
                      <a:rPr i="1">
                        <a:latin typeface="Cambria Math" panose="02040503050406030204" pitchFamily="18" charset="0"/>
                      </a:rPr>
                    </m:ctrlPr>
                  </m:dPr>
                  <m:e>
                    <m:r>
                      <a:rPr>
                        <a:latin typeface="Cambria Math" panose="02040503050406030204" pitchFamily="18" charset="0"/>
                      </a:rPr>
                      <m:t>𝑝</m:t>
                    </m:r>
                  </m:e>
                </m:d>
              </m:oMath>
            </a14:m>
            <a:r>
              <a:t> and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𝑌</m:t>
                    </m:r>
                  </m:e>
                  <m:sub>
                    <m:r>
                      <a:rPr>
                        <a:latin typeface="Cambria Math" panose="02040503050406030204" pitchFamily="18" charset="0"/>
                      </a:rPr>
                      <m:t>𝑖</m:t>
                    </m:r>
                  </m:sub>
                </m:sSub>
              </m:oMath>
            </a14:m>
            <a:r>
              <a:t> is missing</a:t>
            </a:r>
          </a:p>
        </p:txBody>
      </p:sp>
      <p:pic>
        <p:nvPicPr>
          <p:cNvPr id="3" name="Picture 1" descr="ppy_files/figure-pptx/unnamed-chunk-8-1.png"/>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37926" y="2482352"/>
            <a:ext cx="3747655" cy="2194213"/>
          </a:xfrm>
        </p:spPr>
        <p:txBody>
          <a:bodyPr>
            <a:normAutofit/>
          </a:bodyPr>
          <a:lstStyle/>
          <a:p>
            <a:pPr marL="0" lvl="0" indent="0">
              <a:buNone/>
            </a:pPr>
            <a:endParaRPr sz="1200" dirty="0"/>
          </a:p>
          <a:p>
            <a:pPr lvl="0" indent="0">
              <a:buNone/>
            </a:pPr>
            <a:r>
              <a:rPr sz="1200" dirty="0">
                <a:latin typeface="Courier"/>
              </a:rPr>
              <a:t>## Converged in </a:t>
            </a:r>
            <a:r>
              <a:rPr sz="1200" b="1" dirty="0">
                <a:latin typeface="Courier"/>
              </a:rPr>
              <a:t>1522</a:t>
            </a:r>
            <a:r>
              <a:rPr sz="1200" dirty="0">
                <a:latin typeface="Courier"/>
              </a:rPr>
              <a:t> iterations</a:t>
            </a:r>
          </a:p>
          <a:p>
            <a:pPr lvl="0" indent="0">
              <a:buNone/>
            </a:pPr>
            <a:r>
              <a:rPr sz="1200" dirty="0">
                <a:latin typeface="Courier"/>
              </a:rPr>
              <a:t>## Final Estimates:</a:t>
            </a:r>
          </a:p>
          <a:p>
            <a:pPr lvl="0" indent="0">
              <a:buNone/>
            </a:pPr>
            <a:r>
              <a:rPr sz="1200" dirty="0">
                <a:latin typeface="Courier"/>
              </a:rPr>
              <a:t>## Mixing Proportions: </a:t>
            </a:r>
            <a:r>
              <a:rPr sz="1200" b="1" dirty="0">
                <a:latin typeface="Courier"/>
              </a:rPr>
              <a:t>0.349 0.651</a:t>
            </a:r>
          </a:p>
          <a:p>
            <a:pPr lvl="0" indent="0">
              <a:buNone/>
            </a:pPr>
            <a:r>
              <a:rPr sz="1200" dirty="0">
                <a:latin typeface="Courier"/>
              </a:rPr>
              <a:t>## Means: </a:t>
            </a:r>
            <a:r>
              <a:rPr sz="1200" b="1" dirty="0">
                <a:latin typeface="Courier"/>
              </a:rPr>
              <a:t>64.298 74.438</a:t>
            </a:r>
          </a:p>
          <a:p>
            <a:pPr lvl="0" indent="0">
              <a:buNone/>
            </a:pPr>
            <a:r>
              <a:rPr sz="1200" dirty="0">
                <a:latin typeface="Courier"/>
              </a:rPr>
              <a:t>## Standard Deviations: </a:t>
            </a:r>
            <a:r>
              <a:rPr sz="1200" b="1" dirty="0">
                <a:latin typeface="Courier"/>
              </a:rPr>
              <a:t>14.338 12.898</a:t>
            </a:r>
          </a:p>
        </p:txBody>
      </p:sp>
      <p:pic>
        <p:nvPicPr>
          <p:cNvPr id="5" name="Picture 4" descr="A screenshot of a computer&#10;&#10;Description automatically generated">
            <a:extLst>
              <a:ext uri="{FF2B5EF4-FFF2-40B4-BE49-F238E27FC236}">
                <a16:creationId xmlns:a16="http://schemas.microsoft.com/office/drawing/2014/main" id="{8F2B75D3-9EAF-42DA-59FA-270621BD59B4}"/>
              </a:ext>
            </a:extLst>
          </p:cNvPr>
          <p:cNvPicPr>
            <a:picLocks noChangeAspect="1"/>
          </p:cNvPicPr>
          <p:nvPr/>
        </p:nvPicPr>
        <p:blipFill>
          <a:blip r:embed="rId2"/>
          <a:srcRect l="10518" t="8001" r="62586" b="4681"/>
          <a:stretch/>
        </p:blipFill>
        <p:spPr>
          <a:xfrm>
            <a:off x="11229" y="388345"/>
            <a:ext cx="4335518" cy="4508938"/>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FDA7F7B1-86EA-875E-7F8B-D24E50CEE6B6}"/>
              </a:ext>
            </a:extLst>
          </p:cNvPr>
          <p:cNvPicPr>
            <a:picLocks noChangeAspect="1"/>
          </p:cNvPicPr>
          <p:nvPr/>
        </p:nvPicPr>
        <p:blipFill>
          <a:blip r:embed="rId3"/>
          <a:srcRect l="11259" t="37545" r="62743" b="27374"/>
          <a:stretch/>
        </p:blipFill>
        <p:spPr>
          <a:xfrm>
            <a:off x="4437993" y="388345"/>
            <a:ext cx="4603532" cy="193593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Covariance Estimation</a:t>
            </a:r>
          </a:p>
        </p:txBody>
      </p:sp>
      <p:sp>
        <p:nvSpPr>
          <p:cNvPr id="3" name="Content Placeholder 2"/>
          <p:cNvSpPr>
            <a:spLocks noGrp="1"/>
          </p:cNvSpPr>
          <p:nvPr>
            <p:ph idx="1"/>
          </p:nvPr>
        </p:nvSpPr>
        <p:spPr/>
        <p:txBody>
          <a:bodyPr>
            <a:normAutofit fontScale="55000" lnSpcReduction="20000"/>
          </a:bodyPr>
          <a:lstStyle/>
          <a:p>
            <a:pPr lvl="0" indent="0">
              <a:buNone/>
            </a:pPr>
            <a:r>
              <a:rPr dirty="0">
                <a:latin typeface="Courier"/>
              </a:rPr>
              <a:t>## 
## Covariance Matrix (Hessian):</a:t>
            </a:r>
          </a:p>
          <a:p>
            <a:pPr lvl="0" indent="0">
              <a:buNone/>
            </a:pPr>
            <a:r>
              <a:rPr dirty="0">
                <a:latin typeface="Courier"/>
              </a:rPr>
              <a:t>##             [,1]        [,2]      [,3]       [,4]       [,5]        [,6]
## [1,]  0.05498277 -0.05369874  1.359042  0.1073731  0.1534783  0.04663065
## [2,] -0.05369874  0.05609117 -1.359041 -0.1073730 -0.1534782 -0.04663062
## [3,]  1.35904156 -1.35904066 28.241762  7.1814079  2.2333452 -2.08709354
## [4,]  0.10737308 -0.10737301  7.181408 -1.2411766  1.1929368  1.84671378
## [5,]  0.15347834 -0.15347823  2.233345  1.1929368  1.6051747 -0.69880905
## [6,]  0.04663065 -0.04663062 -2.087094  1.8467138 -0.6988091 -0.53879089</a:t>
            </a:r>
            <a:endParaRPr lang="en-US" dirty="0">
              <a:latin typeface="Courier"/>
            </a:endParaRPr>
          </a:p>
          <a:p>
            <a:pPr marL="0" lvl="0" indent="0">
              <a:spcBef>
                <a:spcPts val="3000"/>
              </a:spcBef>
              <a:buNone/>
            </a:pPr>
            <a:r>
              <a:rPr lang="en-US" b="1" dirty="0"/>
              <a:t>Reference</a:t>
            </a:r>
          </a:p>
          <a:p>
            <a:pPr marL="0" lvl="0" indent="0">
              <a:buNone/>
            </a:pPr>
            <a:r>
              <a:rPr lang="en-US" dirty="0"/>
              <a:t>Givens, G. H., &amp; </a:t>
            </a:r>
            <a:r>
              <a:rPr lang="en-US" dirty="0" err="1"/>
              <a:t>Hoeting</a:t>
            </a:r>
            <a:r>
              <a:rPr lang="en-US" dirty="0"/>
              <a:t>, J. A. (2012). Computational statistics. John Wiley &amp; Sons.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1A811A1-BEE2-D24A-E892-86E382B32643}"/>
              </a:ext>
            </a:extLst>
          </p:cNvPr>
          <p:cNvGrpSpPr/>
          <p:nvPr/>
        </p:nvGrpSpPr>
        <p:grpSpPr>
          <a:xfrm rot="261862">
            <a:off x="3852411" y="1386393"/>
            <a:ext cx="2088350" cy="2042191"/>
            <a:chOff x="4065104" y="1520686"/>
            <a:chExt cx="4412974" cy="4104861"/>
          </a:xfrm>
        </p:grpSpPr>
        <p:sp>
          <p:nvSpPr>
            <p:cNvPr id="6" name="Graphic 4" descr="Single gear with solid fill">
              <a:extLst>
                <a:ext uri="{FF2B5EF4-FFF2-40B4-BE49-F238E27FC236}">
                  <a16:creationId xmlns:a16="http://schemas.microsoft.com/office/drawing/2014/main" id="{5065D074-E361-CD02-7377-443F39E0399F}"/>
                </a:ext>
              </a:extLst>
            </p:cNvPr>
            <p:cNvSpPr/>
            <p:nvPr/>
          </p:nvSpPr>
          <p:spPr>
            <a:xfrm>
              <a:off x="4065104" y="1520686"/>
              <a:ext cx="4412974" cy="4104861"/>
            </a:xfrm>
            <a:custGeom>
              <a:avLst/>
              <a:gdLst>
                <a:gd name="connsiteX0" fmla="*/ 1167908 w 2339249"/>
                <a:gd name="connsiteY0" fmla="*/ 1580110 h 2335814"/>
                <a:gd name="connsiteX1" fmla="*/ 755705 w 2339249"/>
                <a:gd name="connsiteY1" fmla="*/ 1167908 h 2335814"/>
                <a:gd name="connsiteX2" fmla="*/ 1167908 w 2339249"/>
                <a:gd name="connsiteY2" fmla="*/ 755705 h 2335814"/>
                <a:gd name="connsiteX3" fmla="*/ 1580110 w 2339249"/>
                <a:gd name="connsiteY3" fmla="*/ 1167908 h 2335814"/>
                <a:gd name="connsiteX4" fmla="*/ 1167908 w 2339249"/>
                <a:gd name="connsiteY4" fmla="*/ 1580110 h 2335814"/>
                <a:gd name="connsiteX5" fmla="*/ 2095363 w 2339249"/>
                <a:gd name="connsiteY5" fmla="*/ 910281 h 2335814"/>
                <a:gd name="connsiteX6" fmla="*/ 2006053 w 2339249"/>
                <a:gd name="connsiteY6" fmla="*/ 697309 h 2335814"/>
                <a:gd name="connsiteX7" fmla="*/ 2091928 w 2339249"/>
                <a:gd name="connsiteY7" fmla="*/ 439683 h 2335814"/>
                <a:gd name="connsiteX8" fmla="*/ 1896132 w 2339249"/>
                <a:gd name="connsiteY8" fmla="*/ 243887 h 2335814"/>
                <a:gd name="connsiteX9" fmla="*/ 1638506 w 2339249"/>
                <a:gd name="connsiteY9" fmla="*/ 329762 h 2335814"/>
                <a:gd name="connsiteX10" fmla="*/ 1422099 w 2339249"/>
                <a:gd name="connsiteY10" fmla="*/ 240452 h 2335814"/>
                <a:gd name="connsiteX11" fmla="*/ 1305308 w 2339249"/>
                <a:gd name="connsiteY11" fmla="*/ 0 h 2335814"/>
                <a:gd name="connsiteX12" fmla="*/ 1030507 w 2339249"/>
                <a:gd name="connsiteY12" fmla="*/ 0 h 2335814"/>
                <a:gd name="connsiteX13" fmla="*/ 910281 w 2339249"/>
                <a:gd name="connsiteY13" fmla="*/ 240452 h 2335814"/>
                <a:gd name="connsiteX14" fmla="*/ 697309 w 2339249"/>
                <a:gd name="connsiteY14" fmla="*/ 329762 h 2335814"/>
                <a:gd name="connsiteX15" fmla="*/ 439683 w 2339249"/>
                <a:gd name="connsiteY15" fmla="*/ 243887 h 2335814"/>
                <a:gd name="connsiteX16" fmla="*/ 243887 w 2339249"/>
                <a:gd name="connsiteY16" fmla="*/ 439683 h 2335814"/>
                <a:gd name="connsiteX17" fmla="*/ 329762 w 2339249"/>
                <a:gd name="connsiteY17" fmla="*/ 697309 h 2335814"/>
                <a:gd name="connsiteX18" fmla="*/ 240452 w 2339249"/>
                <a:gd name="connsiteY18" fmla="*/ 913716 h 2335814"/>
                <a:gd name="connsiteX19" fmla="*/ 0 w 2339249"/>
                <a:gd name="connsiteY19" fmla="*/ 1030507 h 2335814"/>
                <a:gd name="connsiteX20" fmla="*/ 0 w 2339249"/>
                <a:gd name="connsiteY20" fmla="*/ 1305308 h 2335814"/>
                <a:gd name="connsiteX21" fmla="*/ 240452 w 2339249"/>
                <a:gd name="connsiteY21" fmla="*/ 1425534 h 2335814"/>
                <a:gd name="connsiteX22" fmla="*/ 329762 w 2339249"/>
                <a:gd name="connsiteY22" fmla="*/ 1638506 h 2335814"/>
                <a:gd name="connsiteX23" fmla="*/ 243887 w 2339249"/>
                <a:gd name="connsiteY23" fmla="*/ 1896132 h 2335814"/>
                <a:gd name="connsiteX24" fmla="*/ 439683 w 2339249"/>
                <a:gd name="connsiteY24" fmla="*/ 2091928 h 2335814"/>
                <a:gd name="connsiteX25" fmla="*/ 697309 w 2339249"/>
                <a:gd name="connsiteY25" fmla="*/ 2006053 h 2335814"/>
                <a:gd name="connsiteX26" fmla="*/ 913716 w 2339249"/>
                <a:gd name="connsiteY26" fmla="*/ 2095363 h 2335814"/>
                <a:gd name="connsiteX27" fmla="*/ 1033942 w 2339249"/>
                <a:gd name="connsiteY27" fmla="*/ 2335815 h 2335814"/>
                <a:gd name="connsiteX28" fmla="*/ 1308743 w 2339249"/>
                <a:gd name="connsiteY28" fmla="*/ 2335815 h 2335814"/>
                <a:gd name="connsiteX29" fmla="*/ 1428969 w 2339249"/>
                <a:gd name="connsiteY29" fmla="*/ 2095363 h 2335814"/>
                <a:gd name="connsiteX30" fmla="*/ 1641940 w 2339249"/>
                <a:gd name="connsiteY30" fmla="*/ 2006053 h 2335814"/>
                <a:gd name="connsiteX31" fmla="*/ 1899567 w 2339249"/>
                <a:gd name="connsiteY31" fmla="*/ 2091928 h 2335814"/>
                <a:gd name="connsiteX32" fmla="*/ 2095363 w 2339249"/>
                <a:gd name="connsiteY32" fmla="*/ 1896132 h 2335814"/>
                <a:gd name="connsiteX33" fmla="*/ 2009488 w 2339249"/>
                <a:gd name="connsiteY33" fmla="*/ 1638506 h 2335814"/>
                <a:gd name="connsiteX34" fmla="*/ 2098798 w 2339249"/>
                <a:gd name="connsiteY34" fmla="*/ 1422099 h 2335814"/>
                <a:gd name="connsiteX35" fmla="*/ 2339250 w 2339249"/>
                <a:gd name="connsiteY35" fmla="*/ 1301873 h 2335814"/>
                <a:gd name="connsiteX36" fmla="*/ 2339250 w 2339249"/>
                <a:gd name="connsiteY36" fmla="*/ 1027072 h 2335814"/>
                <a:gd name="connsiteX37" fmla="*/ 2095363 w 2339249"/>
                <a:gd name="connsiteY37" fmla="*/ 910281 h 233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39249" h="2335814">
                  <a:moveTo>
                    <a:pt x="1167908" y="1580110"/>
                  </a:moveTo>
                  <a:cubicBezTo>
                    <a:pt x="941196" y="1580110"/>
                    <a:pt x="755705" y="1394619"/>
                    <a:pt x="755705" y="1167908"/>
                  </a:cubicBezTo>
                  <a:cubicBezTo>
                    <a:pt x="755705" y="941196"/>
                    <a:pt x="941196" y="755705"/>
                    <a:pt x="1167908" y="755705"/>
                  </a:cubicBezTo>
                  <a:cubicBezTo>
                    <a:pt x="1394619" y="755705"/>
                    <a:pt x="1580110" y="941196"/>
                    <a:pt x="1580110" y="1167908"/>
                  </a:cubicBezTo>
                  <a:cubicBezTo>
                    <a:pt x="1580110" y="1394619"/>
                    <a:pt x="1394619" y="1580110"/>
                    <a:pt x="1167908" y="1580110"/>
                  </a:cubicBezTo>
                  <a:close/>
                  <a:moveTo>
                    <a:pt x="2095363" y="910281"/>
                  </a:moveTo>
                  <a:cubicBezTo>
                    <a:pt x="2074753" y="834710"/>
                    <a:pt x="2043838" y="762575"/>
                    <a:pt x="2006053" y="697309"/>
                  </a:cubicBezTo>
                  <a:lnTo>
                    <a:pt x="2091928" y="439683"/>
                  </a:lnTo>
                  <a:lnTo>
                    <a:pt x="1896132" y="243887"/>
                  </a:lnTo>
                  <a:lnTo>
                    <a:pt x="1638506" y="329762"/>
                  </a:lnTo>
                  <a:cubicBezTo>
                    <a:pt x="1569805" y="291977"/>
                    <a:pt x="1497670" y="261062"/>
                    <a:pt x="1422099" y="240452"/>
                  </a:cubicBezTo>
                  <a:lnTo>
                    <a:pt x="1305308" y="0"/>
                  </a:lnTo>
                  <a:lnTo>
                    <a:pt x="1030507" y="0"/>
                  </a:lnTo>
                  <a:lnTo>
                    <a:pt x="910281" y="240452"/>
                  </a:lnTo>
                  <a:cubicBezTo>
                    <a:pt x="834710" y="261062"/>
                    <a:pt x="762575" y="291977"/>
                    <a:pt x="697309" y="329762"/>
                  </a:cubicBezTo>
                  <a:lnTo>
                    <a:pt x="439683" y="243887"/>
                  </a:lnTo>
                  <a:lnTo>
                    <a:pt x="243887" y="439683"/>
                  </a:lnTo>
                  <a:lnTo>
                    <a:pt x="329762" y="697309"/>
                  </a:lnTo>
                  <a:cubicBezTo>
                    <a:pt x="291977" y="766010"/>
                    <a:pt x="261062" y="838145"/>
                    <a:pt x="240452" y="913716"/>
                  </a:cubicBezTo>
                  <a:lnTo>
                    <a:pt x="0" y="1030507"/>
                  </a:lnTo>
                  <a:lnTo>
                    <a:pt x="0" y="1305308"/>
                  </a:lnTo>
                  <a:lnTo>
                    <a:pt x="240452" y="1425534"/>
                  </a:lnTo>
                  <a:cubicBezTo>
                    <a:pt x="261062" y="1501105"/>
                    <a:pt x="291977" y="1573240"/>
                    <a:pt x="329762" y="1638506"/>
                  </a:cubicBezTo>
                  <a:lnTo>
                    <a:pt x="243887" y="1896132"/>
                  </a:lnTo>
                  <a:lnTo>
                    <a:pt x="439683" y="2091928"/>
                  </a:lnTo>
                  <a:lnTo>
                    <a:pt x="697309" y="2006053"/>
                  </a:lnTo>
                  <a:cubicBezTo>
                    <a:pt x="766010" y="2043838"/>
                    <a:pt x="838145" y="2074753"/>
                    <a:pt x="913716" y="2095363"/>
                  </a:cubicBezTo>
                  <a:lnTo>
                    <a:pt x="1033942" y="2335815"/>
                  </a:lnTo>
                  <a:lnTo>
                    <a:pt x="1308743" y="2335815"/>
                  </a:lnTo>
                  <a:lnTo>
                    <a:pt x="1428969" y="2095363"/>
                  </a:lnTo>
                  <a:cubicBezTo>
                    <a:pt x="1504540" y="2074753"/>
                    <a:pt x="1576675" y="2043838"/>
                    <a:pt x="1641940" y="2006053"/>
                  </a:cubicBezTo>
                  <a:lnTo>
                    <a:pt x="1899567" y="2091928"/>
                  </a:lnTo>
                  <a:lnTo>
                    <a:pt x="2095363" y="1896132"/>
                  </a:lnTo>
                  <a:lnTo>
                    <a:pt x="2009488" y="1638506"/>
                  </a:lnTo>
                  <a:cubicBezTo>
                    <a:pt x="2047273" y="1569805"/>
                    <a:pt x="2078188" y="1497670"/>
                    <a:pt x="2098798" y="1422099"/>
                  </a:cubicBezTo>
                  <a:lnTo>
                    <a:pt x="2339250" y="1301873"/>
                  </a:lnTo>
                  <a:lnTo>
                    <a:pt x="2339250" y="1027072"/>
                  </a:lnTo>
                  <a:lnTo>
                    <a:pt x="2095363" y="910281"/>
                  </a:lnTo>
                  <a:close/>
                </a:path>
              </a:pathLst>
            </a:custGeom>
            <a:pattFill prst="pct90">
              <a:fgClr>
                <a:srgbClr val="000000"/>
              </a:fgClr>
              <a:bgClr>
                <a:schemeClr val="bg1"/>
              </a:bgClr>
            </a:pattFill>
            <a:ln w="34330" cap="flat">
              <a:noFill/>
              <a:prstDash val="solid"/>
              <a:miter/>
            </a:ln>
          </p:spPr>
          <p:txBody>
            <a:bodyPr rtlCol="0" anchor="ctr"/>
            <a:lstStyle/>
            <a:p>
              <a:endParaRPr lang="en-US" sz="1350"/>
            </a:p>
          </p:txBody>
        </p:sp>
        <p:sp>
          <p:nvSpPr>
            <p:cNvPr id="7" name="Oval 6">
              <a:extLst>
                <a:ext uri="{FF2B5EF4-FFF2-40B4-BE49-F238E27FC236}">
                  <a16:creationId xmlns:a16="http://schemas.microsoft.com/office/drawing/2014/main" id="{282BE376-47DE-2399-EC99-C340E18A6567}"/>
                </a:ext>
              </a:extLst>
            </p:cNvPr>
            <p:cNvSpPr/>
            <p:nvPr/>
          </p:nvSpPr>
          <p:spPr>
            <a:xfrm>
              <a:off x="5098774" y="2544417"/>
              <a:ext cx="2305878" cy="2156792"/>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nvGrpSpPr>
          <p:cNvPr id="15" name="Group 14">
            <a:extLst>
              <a:ext uri="{FF2B5EF4-FFF2-40B4-BE49-F238E27FC236}">
                <a16:creationId xmlns:a16="http://schemas.microsoft.com/office/drawing/2014/main" id="{780F18B6-7C84-1450-9A52-28A95C69046B}"/>
              </a:ext>
            </a:extLst>
          </p:cNvPr>
          <p:cNvGrpSpPr/>
          <p:nvPr/>
        </p:nvGrpSpPr>
        <p:grpSpPr>
          <a:xfrm rot="1850258">
            <a:off x="5090919" y="2900043"/>
            <a:ext cx="2088350" cy="2042191"/>
            <a:chOff x="4065104" y="1520686"/>
            <a:chExt cx="4412974" cy="4104861"/>
          </a:xfrm>
        </p:grpSpPr>
        <p:sp>
          <p:nvSpPr>
            <p:cNvPr id="16" name="Graphic 4" descr="Single gear with solid fill">
              <a:extLst>
                <a:ext uri="{FF2B5EF4-FFF2-40B4-BE49-F238E27FC236}">
                  <a16:creationId xmlns:a16="http://schemas.microsoft.com/office/drawing/2014/main" id="{C557B7E7-B86E-A9A6-4E42-208657B50BA2}"/>
                </a:ext>
              </a:extLst>
            </p:cNvPr>
            <p:cNvSpPr/>
            <p:nvPr/>
          </p:nvSpPr>
          <p:spPr>
            <a:xfrm>
              <a:off x="4065104" y="1520686"/>
              <a:ext cx="4412974" cy="4104861"/>
            </a:xfrm>
            <a:custGeom>
              <a:avLst/>
              <a:gdLst>
                <a:gd name="connsiteX0" fmla="*/ 1167908 w 2339249"/>
                <a:gd name="connsiteY0" fmla="*/ 1580110 h 2335814"/>
                <a:gd name="connsiteX1" fmla="*/ 755705 w 2339249"/>
                <a:gd name="connsiteY1" fmla="*/ 1167908 h 2335814"/>
                <a:gd name="connsiteX2" fmla="*/ 1167908 w 2339249"/>
                <a:gd name="connsiteY2" fmla="*/ 755705 h 2335814"/>
                <a:gd name="connsiteX3" fmla="*/ 1580110 w 2339249"/>
                <a:gd name="connsiteY3" fmla="*/ 1167908 h 2335814"/>
                <a:gd name="connsiteX4" fmla="*/ 1167908 w 2339249"/>
                <a:gd name="connsiteY4" fmla="*/ 1580110 h 2335814"/>
                <a:gd name="connsiteX5" fmla="*/ 2095363 w 2339249"/>
                <a:gd name="connsiteY5" fmla="*/ 910281 h 2335814"/>
                <a:gd name="connsiteX6" fmla="*/ 2006053 w 2339249"/>
                <a:gd name="connsiteY6" fmla="*/ 697309 h 2335814"/>
                <a:gd name="connsiteX7" fmla="*/ 2091928 w 2339249"/>
                <a:gd name="connsiteY7" fmla="*/ 439683 h 2335814"/>
                <a:gd name="connsiteX8" fmla="*/ 1896132 w 2339249"/>
                <a:gd name="connsiteY8" fmla="*/ 243887 h 2335814"/>
                <a:gd name="connsiteX9" fmla="*/ 1638506 w 2339249"/>
                <a:gd name="connsiteY9" fmla="*/ 329762 h 2335814"/>
                <a:gd name="connsiteX10" fmla="*/ 1422099 w 2339249"/>
                <a:gd name="connsiteY10" fmla="*/ 240452 h 2335814"/>
                <a:gd name="connsiteX11" fmla="*/ 1305308 w 2339249"/>
                <a:gd name="connsiteY11" fmla="*/ 0 h 2335814"/>
                <a:gd name="connsiteX12" fmla="*/ 1030507 w 2339249"/>
                <a:gd name="connsiteY12" fmla="*/ 0 h 2335814"/>
                <a:gd name="connsiteX13" fmla="*/ 910281 w 2339249"/>
                <a:gd name="connsiteY13" fmla="*/ 240452 h 2335814"/>
                <a:gd name="connsiteX14" fmla="*/ 697309 w 2339249"/>
                <a:gd name="connsiteY14" fmla="*/ 329762 h 2335814"/>
                <a:gd name="connsiteX15" fmla="*/ 439683 w 2339249"/>
                <a:gd name="connsiteY15" fmla="*/ 243887 h 2335814"/>
                <a:gd name="connsiteX16" fmla="*/ 243887 w 2339249"/>
                <a:gd name="connsiteY16" fmla="*/ 439683 h 2335814"/>
                <a:gd name="connsiteX17" fmla="*/ 329762 w 2339249"/>
                <a:gd name="connsiteY17" fmla="*/ 697309 h 2335814"/>
                <a:gd name="connsiteX18" fmla="*/ 240452 w 2339249"/>
                <a:gd name="connsiteY18" fmla="*/ 913716 h 2335814"/>
                <a:gd name="connsiteX19" fmla="*/ 0 w 2339249"/>
                <a:gd name="connsiteY19" fmla="*/ 1030507 h 2335814"/>
                <a:gd name="connsiteX20" fmla="*/ 0 w 2339249"/>
                <a:gd name="connsiteY20" fmla="*/ 1305308 h 2335814"/>
                <a:gd name="connsiteX21" fmla="*/ 240452 w 2339249"/>
                <a:gd name="connsiteY21" fmla="*/ 1425534 h 2335814"/>
                <a:gd name="connsiteX22" fmla="*/ 329762 w 2339249"/>
                <a:gd name="connsiteY22" fmla="*/ 1638506 h 2335814"/>
                <a:gd name="connsiteX23" fmla="*/ 243887 w 2339249"/>
                <a:gd name="connsiteY23" fmla="*/ 1896132 h 2335814"/>
                <a:gd name="connsiteX24" fmla="*/ 439683 w 2339249"/>
                <a:gd name="connsiteY24" fmla="*/ 2091928 h 2335814"/>
                <a:gd name="connsiteX25" fmla="*/ 697309 w 2339249"/>
                <a:gd name="connsiteY25" fmla="*/ 2006053 h 2335814"/>
                <a:gd name="connsiteX26" fmla="*/ 913716 w 2339249"/>
                <a:gd name="connsiteY26" fmla="*/ 2095363 h 2335814"/>
                <a:gd name="connsiteX27" fmla="*/ 1033942 w 2339249"/>
                <a:gd name="connsiteY27" fmla="*/ 2335815 h 2335814"/>
                <a:gd name="connsiteX28" fmla="*/ 1308743 w 2339249"/>
                <a:gd name="connsiteY28" fmla="*/ 2335815 h 2335814"/>
                <a:gd name="connsiteX29" fmla="*/ 1428969 w 2339249"/>
                <a:gd name="connsiteY29" fmla="*/ 2095363 h 2335814"/>
                <a:gd name="connsiteX30" fmla="*/ 1641940 w 2339249"/>
                <a:gd name="connsiteY30" fmla="*/ 2006053 h 2335814"/>
                <a:gd name="connsiteX31" fmla="*/ 1899567 w 2339249"/>
                <a:gd name="connsiteY31" fmla="*/ 2091928 h 2335814"/>
                <a:gd name="connsiteX32" fmla="*/ 2095363 w 2339249"/>
                <a:gd name="connsiteY32" fmla="*/ 1896132 h 2335814"/>
                <a:gd name="connsiteX33" fmla="*/ 2009488 w 2339249"/>
                <a:gd name="connsiteY33" fmla="*/ 1638506 h 2335814"/>
                <a:gd name="connsiteX34" fmla="*/ 2098798 w 2339249"/>
                <a:gd name="connsiteY34" fmla="*/ 1422099 h 2335814"/>
                <a:gd name="connsiteX35" fmla="*/ 2339250 w 2339249"/>
                <a:gd name="connsiteY35" fmla="*/ 1301873 h 2335814"/>
                <a:gd name="connsiteX36" fmla="*/ 2339250 w 2339249"/>
                <a:gd name="connsiteY36" fmla="*/ 1027072 h 2335814"/>
                <a:gd name="connsiteX37" fmla="*/ 2095363 w 2339249"/>
                <a:gd name="connsiteY37" fmla="*/ 910281 h 233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39249" h="2335814">
                  <a:moveTo>
                    <a:pt x="1167908" y="1580110"/>
                  </a:moveTo>
                  <a:cubicBezTo>
                    <a:pt x="941196" y="1580110"/>
                    <a:pt x="755705" y="1394619"/>
                    <a:pt x="755705" y="1167908"/>
                  </a:cubicBezTo>
                  <a:cubicBezTo>
                    <a:pt x="755705" y="941196"/>
                    <a:pt x="941196" y="755705"/>
                    <a:pt x="1167908" y="755705"/>
                  </a:cubicBezTo>
                  <a:cubicBezTo>
                    <a:pt x="1394619" y="755705"/>
                    <a:pt x="1580110" y="941196"/>
                    <a:pt x="1580110" y="1167908"/>
                  </a:cubicBezTo>
                  <a:cubicBezTo>
                    <a:pt x="1580110" y="1394619"/>
                    <a:pt x="1394619" y="1580110"/>
                    <a:pt x="1167908" y="1580110"/>
                  </a:cubicBezTo>
                  <a:close/>
                  <a:moveTo>
                    <a:pt x="2095363" y="910281"/>
                  </a:moveTo>
                  <a:cubicBezTo>
                    <a:pt x="2074753" y="834710"/>
                    <a:pt x="2043838" y="762575"/>
                    <a:pt x="2006053" y="697309"/>
                  </a:cubicBezTo>
                  <a:lnTo>
                    <a:pt x="2091928" y="439683"/>
                  </a:lnTo>
                  <a:lnTo>
                    <a:pt x="1896132" y="243887"/>
                  </a:lnTo>
                  <a:lnTo>
                    <a:pt x="1638506" y="329762"/>
                  </a:lnTo>
                  <a:cubicBezTo>
                    <a:pt x="1569805" y="291977"/>
                    <a:pt x="1497670" y="261062"/>
                    <a:pt x="1422099" y="240452"/>
                  </a:cubicBezTo>
                  <a:lnTo>
                    <a:pt x="1305308" y="0"/>
                  </a:lnTo>
                  <a:lnTo>
                    <a:pt x="1030507" y="0"/>
                  </a:lnTo>
                  <a:lnTo>
                    <a:pt x="910281" y="240452"/>
                  </a:lnTo>
                  <a:cubicBezTo>
                    <a:pt x="834710" y="261062"/>
                    <a:pt x="762575" y="291977"/>
                    <a:pt x="697309" y="329762"/>
                  </a:cubicBezTo>
                  <a:lnTo>
                    <a:pt x="439683" y="243887"/>
                  </a:lnTo>
                  <a:lnTo>
                    <a:pt x="243887" y="439683"/>
                  </a:lnTo>
                  <a:lnTo>
                    <a:pt x="329762" y="697309"/>
                  </a:lnTo>
                  <a:cubicBezTo>
                    <a:pt x="291977" y="766010"/>
                    <a:pt x="261062" y="838145"/>
                    <a:pt x="240452" y="913716"/>
                  </a:cubicBezTo>
                  <a:lnTo>
                    <a:pt x="0" y="1030507"/>
                  </a:lnTo>
                  <a:lnTo>
                    <a:pt x="0" y="1305308"/>
                  </a:lnTo>
                  <a:lnTo>
                    <a:pt x="240452" y="1425534"/>
                  </a:lnTo>
                  <a:cubicBezTo>
                    <a:pt x="261062" y="1501105"/>
                    <a:pt x="291977" y="1573240"/>
                    <a:pt x="329762" y="1638506"/>
                  </a:cubicBezTo>
                  <a:lnTo>
                    <a:pt x="243887" y="1896132"/>
                  </a:lnTo>
                  <a:lnTo>
                    <a:pt x="439683" y="2091928"/>
                  </a:lnTo>
                  <a:lnTo>
                    <a:pt x="697309" y="2006053"/>
                  </a:lnTo>
                  <a:cubicBezTo>
                    <a:pt x="766010" y="2043838"/>
                    <a:pt x="838145" y="2074753"/>
                    <a:pt x="913716" y="2095363"/>
                  </a:cubicBezTo>
                  <a:lnTo>
                    <a:pt x="1033942" y="2335815"/>
                  </a:lnTo>
                  <a:lnTo>
                    <a:pt x="1308743" y="2335815"/>
                  </a:lnTo>
                  <a:lnTo>
                    <a:pt x="1428969" y="2095363"/>
                  </a:lnTo>
                  <a:cubicBezTo>
                    <a:pt x="1504540" y="2074753"/>
                    <a:pt x="1576675" y="2043838"/>
                    <a:pt x="1641940" y="2006053"/>
                  </a:cubicBezTo>
                  <a:lnTo>
                    <a:pt x="1899567" y="2091928"/>
                  </a:lnTo>
                  <a:lnTo>
                    <a:pt x="2095363" y="1896132"/>
                  </a:lnTo>
                  <a:lnTo>
                    <a:pt x="2009488" y="1638506"/>
                  </a:lnTo>
                  <a:cubicBezTo>
                    <a:pt x="2047273" y="1569805"/>
                    <a:pt x="2078188" y="1497670"/>
                    <a:pt x="2098798" y="1422099"/>
                  </a:cubicBezTo>
                  <a:lnTo>
                    <a:pt x="2339250" y="1301873"/>
                  </a:lnTo>
                  <a:lnTo>
                    <a:pt x="2339250" y="1027072"/>
                  </a:lnTo>
                  <a:lnTo>
                    <a:pt x="2095363" y="910281"/>
                  </a:lnTo>
                  <a:close/>
                </a:path>
              </a:pathLst>
            </a:custGeom>
            <a:pattFill prst="pct90">
              <a:fgClr>
                <a:srgbClr val="61280B"/>
              </a:fgClr>
              <a:bgClr>
                <a:schemeClr val="bg1"/>
              </a:bgClr>
            </a:pattFill>
            <a:ln w="34330" cap="flat">
              <a:noFill/>
              <a:prstDash val="solid"/>
              <a:miter/>
            </a:ln>
          </p:spPr>
          <p:txBody>
            <a:bodyPr rtlCol="0" anchor="ctr"/>
            <a:lstStyle/>
            <a:p>
              <a:endParaRPr lang="en-US" sz="1350"/>
            </a:p>
          </p:txBody>
        </p:sp>
        <p:sp>
          <p:nvSpPr>
            <p:cNvPr id="17" name="Oval 16">
              <a:extLst>
                <a:ext uri="{FF2B5EF4-FFF2-40B4-BE49-F238E27FC236}">
                  <a16:creationId xmlns:a16="http://schemas.microsoft.com/office/drawing/2014/main" id="{41D7F932-56C7-D3B8-9FD9-D3BFC2428108}"/>
                </a:ext>
              </a:extLst>
            </p:cNvPr>
            <p:cNvSpPr/>
            <p:nvPr/>
          </p:nvSpPr>
          <p:spPr>
            <a:xfrm>
              <a:off x="5098774" y="2544417"/>
              <a:ext cx="2305878" cy="2156792"/>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18" name="Group 17">
            <a:extLst>
              <a:ext uri="{FF2B5EF4-FFF2-40B4-BE49-F238E27FC236}">
                <a16:creationId xmlns:a16="http://schemas.microsoft.com/office/drawing/2014/main" id="{D9DA2A9A-C430-5CB9-66A8-75569DF44B7E}"/>
              </a:ext>
            </a:extLst>
          </p:cNvPr>
          <p:cNvGrpSpPr/>
          <p:nvPr/>
        </p:nvGrpSpPr>
        <p:grpSpPr>
          <a:xfrm rot="261862">
            <a:off x="6612854" y="1710655"/>
            <a:ext cx="2088350" cy="2042191"/>
            <a:chOff x="4065104" y="1520686"/>
            <a:chExt cx="4412974" cy="4104861"/>
          </a:xfrm>
        </p:grpSpPr>
        <p:sp>
          <p:nvSpPr>
            <p:cNvPr id="19" name="Graphic 4" descr="Single gear with solid fill">
              <a:extLst>
                <a:ext uri="{FF2B5EF4-FFF2-40B4-BE49-F238E27FC236}">
                  <a16:creationId xmlns:a16="http://schemas.microsoft.com/office/drawing/2014/main" id="{3C0F6654-1848-D3C1-9A78-E40E90C4264C}"/>
                </a:ext>
              </a:extLst>
            </p:cNvPr>
            <p:cNvSpPr/>
            <p:nvPr/>
          </p:nvSpPr>
          <p:spPr>
            <a:xfrm>
              <a:off x="4065104" y="1520686"/>
              <a:ext cx="4412974" cy="4104861"/>
            </a:xfrm>
            <a:custGeom>
              <a:avLst/>
              <a:gdLst>
                <a:gd name="connsiteX0" fmla="*/ 1167908 w 2339249"/>
                <a:gd name="connsiteY0" fmla="*/ 1580110 h 2335814"/>
                <a:gd name="connsiteX1" fmla="*/ 755705 w 2339249"/>
                <a:gd name="connsiteY1" fmla="*/ 1167908 h 2335814"/>
                <a:gd name="connsiteX2" fmla="*/ 1167908 w 2339249"/>
                <a:gd name="connsiteY2" fmla="*/ 755705 h 2335814"/>
                <a:gd name="connsiteX3" fmla="*/ 1580110 w 2339249"/>
                <a:gd name="connsiteY3" fmla="*/ 1167908 h 2335814"/>
                <a:gd name="connsiteX4" fmla="*/ 1167908 w 2339249"/>
                <a:gd name="connsiteY4" fmla="*/ 1580110 h 2335814"/>
                <a:gd name="connsiteX5" fmla="*/ 2095363 w 2339249"/>
                <a:gd name="connsiteY5" fmla="*/ 910281 h 2335814"/>
                <a:gd name="connsiteX6" fmla="*/ 2006053 w 2339249"/>
                <a:gd name="connsiteY6" fmla="*/ 697309 h 2335814"/>
                <a:gd name="connsiteX7" fmla="*/ 2091928 w 2339249"/>
                <a:gd name="connsiteY7" fmla="*/ 439683 h 2335814"/>
                <a:gd name="connsiteX8" fmla="*/ 1896132 w 2339249"/>
                <a:gd name="connsiteY8" fmla="*/ 243887 h 2335814"/>
                <a:gd name="connsiteX9" fmla="*/ 1638506 w 2339249"/>
                <a:gd name="connsiteY9" fmla="*/ 329762 h 2335814"/>
                <a:gd name="connsiteX10" fmla="*/ 1422099 w 2339249"/>
                <a:gd name="connsiteY10" fmla="*/ 240452 h 2335814"/>
                <a:gd name="connsiteX11" fmla="*/ 1305308 w 2339249"/>
                <a:gd name="connsiteY11" fmla="*/ 0 h 2335814"/>
                <a:gd name="connsiteX12" fmla="*/ 1030507 w 2339249"/>
                <a:gd name="connsiteY12" fmla="*/ 0 h 2335814"/>
                <a:gd name="connsiteX13" fmla="*/ 910281 w 2339249"/>
                <a:gd name="connsiteY13" fmla="*/ 240452 h 2335814"/>
                <a:gd name="connsiteX14" fmla="*/ 697309 w 2339249"/>
                <a:gd name="connsiteY14" fmla="*/ 329762 h 2335814"/>
                <a:gd name="connsiteX15" fmla="*/ 439683 w 2339249"/>
                <a:gd name="connsiteY15" fmla="*/ 243887 h 2335814"/>
                <a:gd name="connsiteX16" fmla="*/ 243887 w 2339249"/>
                <a:gd name="connsiteY16" fmla="*/ 439683 h 2335814"/>
                <a:gd name="connsiteX17" fmla="*/ 329762 w 2339249"/>
                <a:gd name="connsiteY17" fmla="*/ 697309 h 2335814"/>
                <a:gd name="connsiteX18" fmla="*/ 240452 w 2339249"/>
                <a:gd name="connsiteY18" fmla="*/ 913716 h 2335814"/>
                <a:gd name="connsiteX19" fmla="*/ 0 w 2339249"/>
                <a:gd name="connsiteY19" fmla="*/ 1030507 h 2335814"/>
                <a:gd name="connsiteX20" fmla="*/ 0 w 2339249"/>
                <a:gd name="connsiteY20" fmla="*/ 1305308 h 2335814"/>
                <a:gd name="connsiteX21" fmla="*/ 240452 w 2339249"/>
                <a:gd name="connsiteY21" fmla="*/ 1425534 h 2335814"/>
                <a:gd name="connsiteX22" fmla="*/ 329762 w 2339249"/>
                <a:gd name="connsiteY22" fmla="*/ 1638506 h 2335814"/>
                <a:gd name="connsiteX23" fmla="*/ 243887 w 2339249"/>
                <a:gd name="connsiteY23" fmla="*/ 1896132 h 2335814"/>
                <a:gd name="connsiteX24" fmla="*/ 439683 w 2339249"/>
                <a:gd name="connsiteY24" fmla="*/ 2091928 h 2335814"/>
                <a:gd name="connsiteX25" fmla="*/ 697309 w 2339249"/>
                <a:gd name="connsiteY25" fmla="*/ 2006053 h 2335814"/>
                <a:gd name="connsiteX26" fmla="*/ 913716 w 2339249"/>
                <a:gd name="connsiteY26" fmla="*/ 2095363 h 2335814"/>
                <a:gd name="connsiteX27" fmla="*/ 1033942 w 2339249"/>
                <a:gd name="connsiteY27" fmla="*/ 2335815 h 2335814"/>
                <a:gd name="connsiteX28" fmla="*/ 1308743 w 2339249"/>
                <a:gd name="connsiteY28" fmla="*/ 2335815 h 2335814"/>
                <a:gd name="connsiteX29" fmla="*/ 1428969 w 2339249"/>
                <a:gd name="connsiteY29" fmla="*/ 2095363 h 2335814"/>
                <a:gd name="connsiteX30" fmla="*/ 1641940 w 2339249"/>
                <a:gd name="connsiteY30" fmla="*/ 2006053 h 2335814"/>
                <a:gd name="connsiteX31" fmla="*/ 1899567 w 2339249"/>
                <a:gd name="connsiteY31" fmla="*/ 2091928 h 2335814"/>
                <a:gd name="connsiteX32" fmla="*/ 2095363 w 2339249"/>
                <a:gd name="connsiteY32" fmla="*/ 1896132 h 2335814"/>
                <a:gd name="connsiteX33" fmla="*/ 2009488 w 2339249"/>
                <a:gd name="connsiteY33" fmla="*/ 1638506 h 2335814"/>
                <a:gd name="connsiteX34" fmla="*/ 2098798 w 2339249"/>
                <a:gd name="connsiteY34" fmla="*/ 1422099 h 2335814"/>
                <a:gd name="connsiteX35" fmla="*/ 2339250 w 2339249"/>
                <a:gd name="connsiteY35" fmla="*/ 1301873 h 2335814"/>
                <a:gd name="connsiteX36" fmla="*/ 2339250 w 2339249"/>
                <a:gd name="connsiteY36" fmla="*/ 1027072 h 2335814"/>
                <a:gd name="connsiteX37" fmla="*/ 2095363 w 2339249"/>
                <a:gd name="connsiteY37" fmla="*/ 910281 h 233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39249" h="2335814">
                  <a:moveTo>
                    <a:pt x="1167908" y="1580110"/>
                  </a:moveTo>
                  <a:cubicBezTo>
                    <a:pt x="941196" y="1580110"/>
                    <a:pt x="755705" y="1394619"/>
                    <a:pt x="755705" y="1167908"/>
                  </a:cubicBezTo>
                  <a:cubicBezTo>
                    <a:pt x="755705" y="941196"/>
                    <a:pt x="941196" y="755705"/>
                    <a:pt x="1167908" y="755705"/>
                  </a:cubicBezTo>
                  <a:cubicBezTo>
                    <a:pt x="1394619" y="755705"/>
                    <a:pt x="1580110" y="941196"/>
                    <a:pt x="1580110" y="1167908"/>
                  </a:cubicBezTo>
                  <a:cubicBezTo>
                    <a:pt x="1580110" y="1394619"/>
                    <a:pt x="1394619" y="1580110"/>
                    <a:pt x="1167908" y="1580110"/>
                  </a:cubicBezTo>
                  <a:close/>
                  <a:moveTo>
                    <a:pt x="2095363" y="910281"/>
                  </a:moveTo>
                  <a:cubicBezTo>
                    <a:pt x="2074753" y="834710"/>
                    <a:pt x="2043838" y="762575"/>
                    <a:pt x="2006053" y="697309"/>
                  </a:cubicBezTo>
                  <a:lnTo>
                    <a:pt x="2091928" y="439683"/>
                  </a:lnTo>
                  <a:lnTo>
                    <a:pt x="1896132" y="243887"/>
                  </a:lnTo>
                  <a:lnTo>
                    <a:pt x="1638506" y="329762"/>
                  </a:lnTo>
                  <a:cubicBezTo>
                    <a:pt x="1569805" y="291977"/>
                    <a:pt x="1497670" y="261062"/>
                    <a:pt x="1422099" y="240452"/>
                  </a:cubicBezTo>
                  <a:lnTo>
                    <a:pt x="1305308" y="0"/>
                  </a:lnTo>
                  <a:lnTo>
                    <a:pt x="1030507" y="0"/>
                  </a:lnTo>
                  <a:lnTo>
                    <a:pt x="910281" y="240452"/>
                  </a:lnTo>
                  <a:cubicBezTo>
                    <a:pt x="834710" y="261062"/>
                    <a:pt x="762575" y="291977"/>
                    <a:pt x="697309" y="329762"/>
                  </a:cubicBezTo>
                  <a:lnTo>
                    <a:pt x="439683" y="243887"/>
                  </a:lnTo>
                  <a:lnTo>
                    <a:pt x="243887" y="439683"/>
                  </a:lnTo>
                  <a:lnTo>
                    <a:pt x="329762" y="697309"/>
                  </a:lnTo>
                  <a:cubicBezTo>
                    <a:pt x="291977" y="766010"/>
                    <a:pt x="261062" y="838145"/>
                    <a:pt x="240452" y="913716"/>
                  </a:cubicBezTo>
                  <a:lnTo>
                    <a:pt x="0" y="1030507"/>
                  </a:lnTo>
                  <a:lnTo>
                    <a:pt x="0" y="1305308"/>
                  </a:lnTo>
                  <a:lnTo>
                    <a:pt x="240452" y="1425534"/>
                  </a:lnTo>
                  <a:cubicBezTo>
                    <a:pt x="261062" y="1501105"/>
                    <a:pt x="291977" y="1573240"/>
                    <a:pt x="329762" y="1638506"/>
                  </a:cubicBezTo>
                  <a:lnTo>
                    <a:pt x="243887" y="1896132"/>
                  </a:lnTo>
                  <a:lnTo>
                    <a:pt x="439683" y="2091928"/>
                  </a:lnTo>
                  <a:lnTo>
                    <a:pt x="697309" y="2006053"/>
                  </a:lnTo>
                  <a:cubicBezTo>
                    <a:pt x="766010" y="2043838"/>
                    <a:pt x="838145" y="2074753"/>
                    <a:pt x="913716" y="2095363"/>
                  </a:cubicBezTo>
                  <a:lnTo>
                    <a:pt x="1033942" y="2335815"/>
                  </a:lnTo>
                  <a:lnTo>
                    <a:pt x="1308743" y="2335815"/>
                  </a:lnTo>
                  <a:lnTo>
                    <a:pt x="1428969" y="2095363"/>
                  </a:lnTo>
                  <a:cubicBezTo>
                    <a:pt x="1504540" y="2074753"/>
                    <a:pt x="1576675" y="2043838"/>
                    <a:pt x="1641940" y="2006053"/>
                  </a:cubicBezTo>
                  <a:lnTo>
                    <a:pt x="1899567" y="2091928"/>
                  </a:lnTo>
                  <a:lnTo>
                    <a:pt x="2095363" y="1896132"/>
                  </a:lnTo>
                  <a:lnTo>
                    <a:pt x="2009488" y="1638506"/>
                  </a:lnTo>
                  <a:cubicBezTo>
                    <a:pt x="2047273" y="1569805"/>
                    <a:pt x="2078188" y="1497670"/>
                    <a:pt x="2098798" y="1422099"/>
                  </a:cubicBezTo>
                  <a:lnTo>
                    <a:pt x="2339250" y="1301873"/>
                  </a:lnTo>
                  <a:lnTo>
                    <a:pt x="2339250" y="1027072"/>
                  </a:lnTo>
                  <a:lnTo>
                    <a:pt x="2095363" y="910281"/>
                  </a:lnTo>
                  <a:close/>
                </a:path>
              </a:pathLst>
            </a:custGeom>
            <a:pattFill prst="pct80">
              <a:fgClr>
                <a:schemeClr val="accent5">
                  <a:lumMod val="40000"/>
                  <a:lumOff val="60000"/>
                </a:schemeClr>
              </a:fgClr>
              <a:bgClr>
                <a:srgbClr val="FF0000"/>
              </a:bgClr>
            </a:pattFill>
            <a:ln w="34330" cap="flat">
              <a:noFill/>
              <a:prstDash val="solid"/>
              <a:miter/>
            </a:ln>
          </p:spPr>
          <p:txBody>
            <a:bodyPr rtlCol="0" anchor="ctr"/>
            <a:lstStyle/>
            <a:p>
              <a:endParaRPr lang="en-US" sz="1350"/>
            </a:p>
          </p:txBody>
        </p:sp>
        <p:sp>
          <p:nvSpPr>
            <p:cNvPr id="20" name="Oval 19">
              <a:extLst>
                <a:ext uri="{FF2B5EF4-FFF2-40B4-BE49-F238E27FC236}">
                  <a16:creationId xmlns:a16="http://schemas.microsoft.com/office/drawing/2014/main" id="{19151C85-3193-4E47-8F0E-18C0D3C19BB1}"/>
                </a:ext>
              </a:extLst>
            </p:cNvPr>
            <p:cNvSpPr/>
            <p:nvPr/>
          </p:nvSpPr>
          <p:spPr>
            <a:xfrm>
              <a:off x="5098774" y="2544417"/>
              <a:ext cx="2305878" cy="2156792"/>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sp>
        <p:nvSpPr>
          <p:cNvPr id="22" name="TextBox 21">
            <a:extLst>
              <a:ext uri="{FF2B5EF4-FFF2-40B4-BE49-F238E27FC236}">
                <a16:creationId xmlns:a16="http://schemas.microsoft.com/office/drawing/2014/main" id="{24098BD9-9D58-A2C9-E24C-720D7B88B1FD}"/>
              </a:ext>
            </a:extLst>
          </p:cNvPr>
          <p:cNvSpPr txBox="1"/>
          <p:nvPr/>
        </p:nvSpPr>
        <p:spPr>
          <a:xfrm rot="10800000" flipV="1">
            <a:off x="241262" y="0"/>
            <a:ext cx="9035717" cy="323165"/>
          </a:xfrm>
          <a:prstGeom prst="rect">
            <a:avLst/>
          </a:prstGeom>
          <a:noFill/>
        </p:spPr>
        <p:txBody>
          <a:bodyPr wrap="square" rtlCol="0">
            <a:spAutoFit/>
          </a:bodyPr>
          <a:lstStyle/>
          <a:p>
            <a:r>
              <a:rPr lang="en-US" sz="1500" dirty="0">
                <a:solidFill>
                  <a:schemeClr val="tx2">
                    <a:lumMod val="75000"/>
                  </a:schemeClr>
                </a:solidFill>
                <a:latin typeface="Times New Roman" panose="02020603050405020304" pitchFamily="18" charset="0"/>
                <a:cs typeface="Times New Roman" panose="02020603050405020304" pitchFamily="18" charset="0"/>
              </a:rPr>
              <a:t>Applications of E-M model</a:t>
            </a:r>
            <a:endParaRPr lang="en-US" sz="1500" dirty="0">
              <a:solidFill>
                <a:schemeClr val="tx2">
                  <a:lumMod val="75000"/>
                </a:schemeClr>
              </a:solidFill>
            </a:endParaRPr>
          </a:p>
        </p:txBody>
      </p:sp>
      <p:cxnSp>
        <p:nvCxnSpPr>
          <p:cNvPr id="23" name="Straight Connector 22">
            <a:extLst>
              <a:ext uri="{FF2B5EF4-FFF2-40B4-BE49-F238E27FC236}">
                <a16:creationId xmlns:a16="http://schemas.microsoft.com/office/drawing/2014/main" id="{0B558AFD-E5CD-6630-C89C-560FE187BCB0}"/>
              </a:ext>
            </a:extLst>
          </p:cNvPr>
          <p:cNvCxnSpPr>
            <a:cxnSpLocks/>
          </p:cNvCxnSpPr>
          <p:nvPr/>
        </p:nvCxnSpPr>
        <p:spPr>
          <a:xfrm>
            <a:off x="108285" y="316296"/>
            <a:ext cx="659675" cy="0"/>
          </a:xfrm>
          <a:prstGeom prst="line">
            <a:avLst/>
          </a:prstGeom>
          <a:ln w="28575">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EF3B87D3-C850-28CA-4848-B50CED23040D}"/>
              </a:ext>
            </a:extLst>
          </p:cNvPr>
          <p:cNvSpPr txBox="1"/>
          <p:nvPr/>
        </p:nvSpPr>
        <p:spPr>
          <a:xfrm>
            <a:off x="81162" y="1451483"/>
            <a:ext cx="3543170" cy="1588991"/>
          </a:xfrm>
          <a:prstGeom prst="rect">
            <a:avLst/>
          </a:prstGeom>
          <a:solidFill>
            <a:schemeClr val="bg1">
              <a:alpha val="52000"/>
            </a:schemeClr>
          </a:solidFill>
        </p:spPr>
        <p:txBody>
          <a:bodyPr vert="horz" lIns="68580" tIns="34290" rIns="68580" bIns="34290" rtlCol="0" anchor="t">
            <a:normAutofit/>
          </a:bodyPr>
          <a:lstStyle/>
          <a:p>
            <a:pPr marL="171450" indent="-171450" algn="just">
              <a:lnSpc>
                <a:spcPct val="90000"/>
              </a:lnSpc>
              <a:spcBef>
                <a:spcPct val="0"/>
              </a:spcBef>
              <a:spcAft>
                <a:spcPts val="450"/>
              </a:spcAft>
              <a:buAutoNum type="arabicPeriod"/>
            </a:pPr>
            <a:endParaRPr lang="en-US" sz="900" b="1" dirty="0">
              <a:latin typeface="Times New Roman" panose="02020603050405020304" pitchFamily="18" charset="0"/>
              <a:ea typeface="+mj-ea"/>
              <a:cs typeface="Times New Roman" panose="02020603050405020304" pitchFamily="18" charset="0"/>
            </a:endParaRPr>
          </a:p>
        </p:txBody>
      </p:sp>
      <p:sp>
        <p:nvSpPr>
          <p:cNvPr id="28" name="TextBox 27">
            <a:extLst>
              <a:ext uri="{FF2B5EF4-FFF2-40B4-BE49-F238E27FC236}">
                <a16:creationId xmlns:a16="http://schemas.microsoft.com/office/drawing/2014/main" id="{D315A180-525A-47DF-3D32-C9F0B84C351A}"/>
              </a:ext>
            </a:extLst>
          </p:cNvPr>
          <p:cNvSpPr txBox="1"/>
          <p:nvPr/>
        </p:nvSpPr>
        <p:spPr>
          <a:xfrm>
            <a:off x="7328037" y="2633078"/>
            <a:ext cx="635462" cy="402839"/>
          </a:xfrm>
          <a:prstGeom prst="rect">
            <a:avLst/>
          </a:prstGeom>
          <a:solidFill>
            <a:schemeClr val="bg1">
              <a:alpha val="52000"/>
            </a:schemeClr>
          </a:solidFill>
        </p:spPr>
        <p:txBody>
          <a:bodyPr vert="horz" lIns="68580" tIns="34290" rIns="68580" bIns="34290" rtlCol="0" anchor="t">
            <a:normAutofit/>
          </a:bodyPr>
          <a:lstStyle/>
          <a:p>
            <a:pPr algn="r">
              <a:lnSpc>
                <a:spcPct val="90000"/>
              </a:lnSpc>
              <a:spcBef>
                <a:spcPct val="0"/>
              </a:spcBef>
              <a:spcAft>
                <a:spcPts val="450"/>
              </a:spcAft>
            </a:pPr>
            <a:r>
              <a:rPr lang="en-US" sz="900" b="1" dirty="0">
                <a:latin typeface="Times New Roman" panose="02020603050405020304" pitchFamily="18" charset="0"/>
                <a:ea typeface="+mj-ea"/>
                <a:cs typeface="Times New Roman" panose="02020603050405020304" pitchFamily="18" charset="0"/>
              </a:rPr>
              <a:t>Maximize</a:t>
            </a:r>
          </a:p>
        </p:txBody>
      </p:sp>
      <p:sp>
        <p:nvSpPr>
          <p:cNvPr id="33" name="TextBox 32">
            <a:extLst>
              <a:ext uri="{FF2B5EF4-FFF2-40B4-BE49-F238E27FC236}">
                <a16:creationId xmlns:a16="http://schemas.microsoft.com/office/drawing/2014/main" id="{755DD218-BC10-DCFF-68C2-9ACA44F3551E}"/>
              </a:ext>
            </a:extLst>
          </p:cNvPr>
          <p:cNvSpPr txBox="1"/>
          <p:nvPr/>
        </p:nvSpPr>
        <p:spPr>
          <a:xfrm>
            <a:off x="5756767" y="3731407"/>
            <a:ext cx="715152" cy="360077"/>
          </a:xfrm>
          <a:prstGeom prst="rect">
            <a:avLst/>
          </a:prstGeom>
          <a:solidFill>
            <a:schemeClr val="bg1">
              <a:alpha val="52000"/>
            </a:schemeClr>
          </a:solidFill>
        </p:spPr>
        <p:txBody>
          <a:bodyPr vert="horz" lIns="68580" tIns="34290" rIns="68580" bIns="34290" rtlCol="0" anchor="t">
            <a:normAutofit fontScale="92500" lnSpcReduction="20000"/>
          </a:bodyPr>
          <a:lstStyle/>
          <a:p>
            <a:pPr algn="ctr">
              <a:lnSpc>
                <a:spcPct val="90000"/>
              </a:lnSpc>
              <a:spcBef>
                <a:spcPct val="0"/>
              </a:spcBef>
              <a:spcAft>
                <a:spcPts val="450"/>
              </a:spcAft>
            </a:pPr>
            <a:r>
              <a:rPr lang="en-US" sz="900" b="1" dirty="0">
                <a:latin typeface="Times New Roman" panose="02020603050405020304" pitchFamily="18" charset="0"/>
                <a:ea typeface="+mj-ea"/>
                <a:cs typeface="Times New Roman" panose="02020603050405020304" pitchFamily="18" charset="0"/>
              </a:rPr>
              <a:t>Repeat 1 &amp; 2 till Convergence</a:t>
            </a:r>
          </a:p>
        </p:txBody>
      </p:sp>
      <p:sp>
        <p:nvSpPr>
          <p:cNvPr id="42" name="TextBox 41">
            <a:extLst>
              <a:ext uri="{FF2B5EF4-FFF2-40B4-BE49-F238E27FC236}">
                <a16:creationId xmlns:a16="http://schemas.microsoft.com/office/drawing/2014/main" id="{4334AA3B-38BF-1E41-4044-507628446146}"/>
              </a:ext>
            </a:extLst>
          </p:cNvPr>
          <p:cNvSpPr txBox="1"/>
          <p:nvPr/>
        </p:nvSpPr>
        <p:spPr>
          <a:xfrm>
            <a:off x="4468091" y="2335387"/>
            <a:ext cx="832737" cy="236363"/>
          </a:xfrm>
          <a:prstGeom prst="rect">
            <a:avLst/>
          </a:prstGeom>
          <a:solidFill>
            <a:schemeClr val="bg1">
              <a:alpha val="52000"/>
            </a:schemeClr>
          </a:solidFill>
        </p:spPr>
        <p:txBody>
          <a:bodyPr vert="horz" lIns="68580" tIns="34290" rIns="68580" bIns="34290" rtlCol="0" anchor="t">
            <a:normAutofit/>
          </a:bodyPr>
          <a:lstStyle/>
          <a:p>
            <a:pPr algn="ctr">
              <a:lnSpc>
                <a:spcPct val="90000"/>
              </a:lnSpc>
              <a:spcBef>
                <a:spcPct val="0"/>
              </a:spcBef>
              <a:spcAft>
                <a:spcPts val="450"/>
              </a:spcAft>
            </a:pPr>
            <a:r>
              <a:rPr lang="en-US" sz="1050" b="1" dirty="0">
                <a:latin typeface="Times New Roman" panose="02020603050405020304" pitchFamily="18" charset="0"/>
                <a:ea typeface="+mj-ea"/>
                <a:cs typeface="Times New Roman" panose="02020603050405020304" pitchFamily="18" charset="0"/>
              </a:rPr>
              <a:t>Expectation</a:t>
            </a:r>
          </a:p>
        </p:txBody>
      </p:sp>
      <p:sp>
        <p:nvSpPr>
          <p:cNvPr id="2" name="Content Placeholder 2">
            <a:extLst>
              <a:ext uri="{FF2B5EF4-FFF2-40B4-BE49-F238E27FC236}">
                <a16:creationId xmlns:a16="http://schemas.microsoft.com/office/drawing/2014/main" id="{B0119576-789E-7E17-6247-CC3CB4E80524}"/>
              </a:ext>
            </a:extLst>
          </p:cNvPr>
          <p:cNvSpPr txBox="1">
            <a:spLocks/>
          </p:cNvSpPr>
          <p:nvPr/>
        </p:nvSpPr>
        <p:spPr>
          <a:xfrm>
            <a:off x="119721" y="812425"/>
            <a:ext cx="3889864" cy="1641143"/>
          </a:xfrm>
          <a:prstGeom prst="rect">
            <a:avLst/>
          </a:prstGeom>
        </p:spPr>
        <p:txBody>
          <a:bodyPr vert="horz" lIns="91440" tIns="45720" rIns="91440" bIns="45720" rtlCol="0">
            <a:normAutofit/>
          </a:bodyPr>
          <a:lstStyle>
            <a:lvl1pPr marL="0" indent="0" algn="ctr" defTabSz="342900" rtl="0" eaLnBrk="1" latinLnBrk="0" hangingPunct="1">
              <a:spcBef>
                <a:spcPct val="20000"/>
              </a:spcBef>
              <a:buFont typeface="Arial"/>
              <a:buNone/>
              <a:defRPr sz="2400" kern="1200">
                <a:solidFill>
                  <a:schemeClr val="tx1">
                    <a:tint val="75000"/>
                  </a:schemeClr>
                </a:solidFill>
                <a:latin typeface="+mn-lt"/>
                <a:ea typeface="+mn-ea"/>
                <a:cs typeface="+mn-cs"/>
              </a:defRPr>
            </a:lvl1pPr>
            <a:lvl2pPr marL="342900" indent="0" algn="ctr" defTabSz="342900" rtl="0" eaLnBrk="1" latinLnBrk="0" hangingPunct="1">
              <a:spcBef>
                <a:spcPct val="20000"/>
              </a:spcBef>
              <a:buFont typeface="Arial"/>
              <a:buNone/>
              <a:defRPr sz="2100" kern="1200">
                <a:solidFill>
                  <a:schemeClr val="tx1">
                    <a:tint val="75000"/>
                  </a:schemeClr>
                </a:solidFill>
                <a:latin typeface="+mn-lt"/>
                <a:ea typeface="+mn-ea"/>
                <a:cs typeface="+mn-cs"/>
              </a:defRPr>
            </a:lvl2pPr>
            <a:lvl3pPr marL="685800" indent="0" algn="ctr" defTabSz="342900" rtl="0" eaLnBrk="1" latinLnBrk="0" hangingPunct="1">
              <a:spcBef>
                <a:spcPct val="20000"/>
              </a:spcBef>
              <a:buFont typeface="Arial"/>
              <a:buNone/>
              <a:defRPr sz="1800" kern="1200">
                <a:solidFill>
                  <a:schemeClr val="tx1">
                    <a:tint val="75000"/>
                  </a:schemeClr>
                </a:solidFill>
                <a:latin typeface="+mn-lt"/>
                <a:ea typeface="+mn-ea"/>
                <a:cs typeface="+mn-cs"/>
              </a:defRPr>
            </a:lvl3pPr>
            <a:lvl4pPr marL="10287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4pPr>
            <a:lvl5pPr marL="13716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5pPr>
            <a:lvl6pPr marL="17145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6pPr>
            <a:lvl7pPr marL="20574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7pPr>
            <a:lvl8pPr marL="24003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8pPr>
            <a:lvl9pPr marL="27432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9pPr>
          </a:lstStyle>
          <a:p>
            <a:pPr algn="l"/>
            <a:r>
              <a:rPr lang="en-US" sz="1200" dirty="0">
                <a:solidFill>
                  <a:schemeClr val="tx1"/>
                </a:solidFill>
              </a:rPr>
              <a:t>1. Estimating Gaussian Mixture Models (GMMs)</a:t>
            </a:r>
          </a:p>
          <a:p>
            <a:pPr algn="l"/>
            <a:r>
              <a:rPr lang="en-US" sz="1200" dirty="0">
                <a:solidFill>
                  <a:schemeClr val="tx1"/>
                </a:solidFill>
              </a:rPr>
              <a:t>2. Learning Hidden Markov Models (HMMs)</a:t>
            </a:r>
          </a:p>
          <a:p>
            <a:pPr algn="l"/>
            <a:r>
              <a:rPr lang="en-US" sz="1200" dirty="0">
                <a:solidFill>
                  <a:schemeClr val="tx1"/>
                </a:solidFill>
              </a:rPr>
              <a:t>3. Data clustering</a:t>
            </a:r>
          </a:p>
          <a:p>
            <a:pPr algn="l"/>
            <a:r>
              <a:rPr lang="en-US" sz="1200" dirty="0">
                <a:solidFill>
                  <a:schemeClr val="tx1"/>
                </a:solidFill>
              </a:rPr>
              <a:t>4. Image reconstruction</a:t>
            </a:r>
          </a:p>
          <a:p>
            <a:pPr algn="l"/>
            <a:r>
              <a:rPr lang="en-US" sz="1200" dirty="0">
                <a:solidFill>
                  <a:schemeClr val="tx1"/>
                </a:solidFill>
              </a:rPr>
              <a:t>5. Natural language processing</a:t>
            </a:r>
          </a:p>
          <a:p>
            <a:pPr algn="l"/>
            <a:r>
              <a:rPr lang="en-US" sz="1200" dirty="0">
                <a:solidFill>
                  <a:schemeClr val="tx1"/>
                </a:solidFill>
              </a:rPr>
              <a:t>6. Filling in missing data in a dataset</a:t>
            </a:r>
          </a:p>
        </p:txBody>
      </p:sp>
      <p:sp>
        <p:nvSpPr>
          <p:cNvPr id="4" name="TextBox 3">
            <a:extLst>
              <a:ext uri="{FF2B5EF4-FFF2-40B4-BE49-F238E27FC236}">
                <a16:creationId xmlns:a16="http://schemas.microsoft.com/office/drawing/2014/main" id="{91C4675B-849E-3DA8-067B-EA01B25CB2B6}"/>
              </a:ext>
            </a:extLst>
          </p:cNvPr>
          <p:cNvSpPr txBox="1"/>
          <p:nvPr/>
        </p:nvSpPr>
        <p:spPr>
          <a:xfrm>
            <a:off x="4715120" y="2015836"/>
            <a:ext cx="348716" cy="369332"/>
          </a:xfrm>
          <a:prstGeom prst="rect">
            <a:avLst/>
          </a:prstGeom>
          <a:noFill/>
        </p:spPr>
        <p:txBody>
          <a:bodyPr wrap="square" rtlCol="0">
            <a:spAutoFit/>
          </a:bodyPr>
          <a:lstStyle/>
          <a:p>
            <a:r>
              <a:rPr lang="en-US" b="1" dirty="0"/>
              <a:t>1</a:t>
            </a:r>
          </a:p>
        </p:txBody>
      </p:sp>
      <p:sp>
        <p:nvSpPr>
          <p:cNvPr id="5" name="TextBox 4">
            <a:extLst>
              <a:ext uri="{FF2B5EF4-FFF2-40B4-BE49-F238E27FC236}">
                <a16:creationId xmlns:a16="http://schemas.microsoft.com/office/drawing/2014/main" id="{0CA38A02-832F-4A5B-BE2F-727BBC838251}"/>
              </a:ext>
            </a:extLst>
          </p:cNvPr>
          <p:cNvSpPr txBox="1"/>
          <p:nvPr/>
        </p:nvSpPr>
        <p:spPr>
          <a:xfrm>
            <a:off x="7496032" y="2324484"/>
            <a:ext cx="348716" cy="369332"/>
          </a:xfrm>
          <a:prstGeom prst="rect">
            <a:avLst/>
          </a:prstGeom>
          <a:noFill/>
        </p:spPr>
        <p:txBody>
          <a:bodyPr wrap="square" rtlCol="0">
            <a:spAutoFit/>
          </a:bodyPr>
          <a:lstStyle/>
          <a:p>
            <a:r>
              <a:rPr lang="en-US" b="1" dirty="0"/>
              <a:t>2</a:t>
            </a:r>
          </a:p>
        </p:txBody>
      </p:sp>
    </p:spTree>
    <p:extLst>
      <p:ext uri="{BB962C8B-B14F-4D97-AF65-F5344CB8AC3E}">
        <p14:creationId xmlns:p14="http://schemas.microsoft.com/office/powerpoint/2010/main" val="2323136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5000" fill="hold"/>
                                        <p:tgtEl>
                                          <p:spTgt spid="8"/>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15"/>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1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23C33AE-8CD2-BDF3-C82D-71527FDD78AC}"/>
              </a:ext>
            </a:extLst>
          </p:cNvPr>
          <p:cNvSpPr txBox="1"/>
          <p:nvPr/>
        </p:nvSpPr>
        <p:spPr>
          <a:xfrm>
            <a:off x="3483445" y="1839421"/>
            <a:ext cx="1373548" cy="461665"/>
          </a:xfrm>
          <a:prstGeom prst="rect">
            <a:avLst/>
          </a:prstGeom>
          <a:noFill/>
        </p:spPr>
        <p:txBody>
          <a:bodyPr wrap="square" rtlCol="0">
            <a:spAutoFit/>
          </a:bodyPr>
          <a:lstStyle/>
          <a:p>
            <a:r>
              <a:rPr lang="en-US" sz="2400" b="1" dirty="0"/>
              <a:t>Thanks </a:t>
            </a:r>
          </a:p>
        </p:txBody>
      </p:sp>
      <p:sp>
        <p:nvSpPr>
          <p:cNvPr id="5" name="TextBox 4">
            <a:extLst>
              <a:ext uri="{FF2B5EF4-FFF2-40B4-BE49-F238E27FC236}">
                <a16:creationId xmlns:a16="http://schemas.microsoft.com/office/drawing/2014/main" id="{C6CD81B0-4766-17DB-1CCF-9E610DE39305}"/>
              </a:ext>
            </a:extLst>
          </p:cNvPr>
          <p:cNvSpPr txBox="1"/>
          <p:nvPr/>
        </p:nvSpPr>
        <p:spPr>
          <a:xfrm>
            <a:off x="3197965" y="2842414"/>
            <a:ext cx="4642246" cy="461665"/>
          </a:xfrm>
          <a:prstGeom prst="rect">
            <a:avLst/>
          </a:prstGeom>
          <a:noFill/>
        </p:spPr>
        <p:txBody>
          <a:bodyPr wrap="square" rtlCol="0">
            <a:spAutoFit/>
          </a:bodyPr>
          <a:lstStyle/>
          <a:p>
            <a:r>
              <a:rPr lang="en-US" sz="2400" b="1" dirty="0"/>
              <a:t>Any Question?? </a:t>
            </a:r>
          </a:p>
        </p:txBody>
      </p:sp>
    </p:spTree>
    <p:extLst>
      <p:ext uri="{BB962C8B-B14F-4D97-AF65-F5344CB8AC3E}">
        <p14:creationId xmlns:p14="http://schemas.microsoft.com/office/powerpoint/2010/main" val="35860516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998</Words>
  <Application>Microsoft Office PowerPoint</Application>
  <PresentationFormat>On-screen Show (16:9)</PresentationFormat>
  <Paragraphs>97</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Arial</vt:lpstr>
      <vt:lpstr>Calibri</vt:lpstr>
      <vt:lpstr>Cambria Math</vt:lpstr>
      <vt:lpstr>Courier</vt:lpstr>
      <vt:lpstr>Times New Roman</vt:lpstr>
      <vt:lpstr>Office Theme</vt:lpstr>
      <vt:lpstr>Project: Expectation Maximization Algorithm</vt:lpstr>
      <vt:lpstr>PowerPoint Presentation</vt:lpstr>
      <vt:lpstr>How Does it Work?</vt:lpstr>
      <vt:lpstr>The E-M Algorithm</vt:lpstr>
      <vt:lpstr>Example 1: The Simple Exponential Distribution</vt:lpstr>
      <vt:lpstr>PowerPoint Presentation</vt:lpstr>
      <vt:lpstr>Gaussian Mixed Model</vt:lpstr>
      <vt:lpstr>PowerPoint Presentation</vt:lpstr>
      <vt:lpstr>Variance Covariance Estimation</vt:lpstr>
      <vt:lpstr>Variance Covariance Estimation</vt:lpstr>
      <vt:lpstr>Example 3: Old Faithful Dataset</vt:lpstr>
      <vt:lpstr>PowerPoint Presentation</vt:lpstr>
      <vt:lpstr>Covariance Estimation</vt:lpstr>
      <vt:lpstr>PowerPoint Presentation</vt:lpstr>
      <vt:lpstr>PowerPoint Presentation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Expectation Maximization Algorithm</dc:title>
  <dc:creator>Victor Apatu</dc:creator>
  <cp:keywords/>
  <cp:lastModifiedBy>vapatu</cp:lastModifiedBy>
  <cp:revision>1</cp:revision>
  <dcterms:created xsi:type="dcterms:W3CDTF">2024-12-12T00:39:33Z</dcterms:created>
  <dcterms:modified xsi:type="dcterms:W3CDTF">2024-12-12T02:30:43Z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2024-12-11</vt:lpwstr>
  </property>
  <property fmtid="{D5CDD505-2E9C-101B-9397-08002B2CF9AE}" pid="3" name="output">
    <vt:lpwstr/>
  </property>
</Properties>
</file>